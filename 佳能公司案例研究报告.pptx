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65" r:id="rId3"/>
    <p:sldId id="324" r:id="rId4"/>
    <p:sldId id="258" r:id="rId5"/>
    <p:sldId id="314" r:id="rId6"/>
    <p:sldId id="326" r:id="rId7"/>
    <p:sldId id="315" r:id="rId8"/>
    <p:sldId id="266" r:id="rId9"/>
    <p:sldId id="312" r:id="rId10"/>
    <p:sldId id="325" r:id="rId11"/>
    <p:sldId id="317" r:id="rId12"/>
    <p:sldId id="318" r:id="rId13"/>
    <p:sldId id="320" r:id="rId14"/>
    <p:sldId id="321" r:id="rId15"/>
    <p:sldId id="310"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4C77"/>
    <a:srgbClr val="414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96318" autoAdjust="0"/>
  </p:normalViewPr>
  <p:slideViewPr>
    <p:cSldViewPr snapToGrid="0">
      <p:cViewPr varScale="1">
        <p:scale>
          <a:sx n="63" d="100"/>
          <a:sy n="63" d="100"/>
        </p:scale>
        <p:origin x="836" y="40"/>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C3632-086E-4C0A-B693-80AF826D3C19}" type="datetimeFigureOut">
              <a:rPr lang="zh-CN" altLang="en-US" smtClean="0"/>
              <a:t>2020/5/26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6724C-EBFF-41D4-88EE-EC6386CFF47F}" type="slidenum">
              <a:rPr lang="zh-CN" altLang="en-US" smtClean="0"/>
              <a:t>‹#›</a:t>
            </a:fld>
            <a:endParaRPr lang="zh-CN" altLang="en-US"/>
          </a:p>
        </p:txBody>
      </p:sp>
    </p:spTree>
    <p:extLst>
      <p:ext uri="{BB962C8B-B14F-4D97-AF65-F5344CB8AC3E}">
        <p14:creationId xmlns:p14="http://schemas.microsoft.com/office/powerpoint/2010/main" val="1984564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28E3A23-DE27-4733-AAD0-972943309144}" type="slidenum">
              <a:rPr lang="zh-CN" altLang="en-US" smtClean="0"/>
              <a:t>1</a:t>
            </a:fld>
            <a:endParaRPr lang="zh-CN" altLang="en-US"/>
          </a:p>
        </p:txBody>
      </p:sp>
    </p:spTree>
    <p:extLst>
      <p:ext uri="{BB962C8B-B14F-4D97-AF65-F5344CB8AC3E}">
        <p14:creationId xmlns:p14="http://schemas.microsoft.com/office/powerpoint/2010/main" val="4162434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8AEEFA-8A1D-43B1-A8B3-9A14753B7919}" type="slidenum">
              <a:rPr lang="zh-CN" altLang="en-US" smtClean="0"/>
              <a:t>2</a:t>
            </a:fld>
            <a:endParaRPr lang="zh-CN" altLang="en-US"/>
          </a:p>
        </p:txBody>
      </p:sp>
    </p:spTree>
    <p:extLst>
      <p:ext uri="{BB962C8B-B14F-4D97-AF65-F5344CB8AC3E}">
        <p14:creationId xmlns:p14="http://schemas.microsoft.com/office/powerpoint/2010/main" val="2004524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3</a:t>
            </a:fld>
            <a:endParaRPr lang="zh-CN" altLang="en-US"/>
          </a:p>
        </p:txBody>
      </p:sp>
    </p:spTree>
    <p:extLst>
      <p:ext uri="{BB962C8B-B14F-4D97-AF65-F5344CB8AC3E}">
        <p14:creationId xmlns:p14="http://schemas.microsoft.com/office/powerpoint/2010/main" val="218895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3726283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5</a:t>
            </a:fld>
            <a:endParaRPr lang="zh-CN" altLang="en-US"/>
          </a:p>
        </p:txBody>
      </p:sp>
    </p:spTree>
    <p:extLst>
      <p:ext uri="{BB962C8B-B14F-4D97-AF65-F5344CB8AC3E}">
        <p14:creationId xmlns:p14="http://schemas.microsoft.com/office/powerpoint/2010/main" val="2605595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6</a:t>
            </a:fld>
            <a:endParaRPr lang="zh-CN" altLang="en-US"/>
          </a:p>
        </p:txBody>
      </p:sp>
    </p:spTree>
    <p:extLst>
      <p:ext uri="{BB962C8B-B14F-4D97-AF65-F5344CB8AC3E}">
        <p14:creationId xmlns:p14="http://schemas.microsoft.com/office/powerpoint/2010/main" val="500000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网络图</a:t>
            </a:r>
            <a:r>
              <a:rPr lang="en-US" altLang="zh-CN" dirty="0"/>
              <a:t>+</a:t>
            </a:r>
            <a:r>
              <a:rPr lang="zh-CN" altLang="en-US" dirty="0"/>
              <a:t>关键路径</a:t>
            </a:r>
          </a:p>
        </p:txBody>
      </p:sp>
      <p:sp>
        <p:nvSpPr>
          <p:cNvPr id="4" name="灯片编号占位符 3"/>
          <p:cNvSpPr>
            <a:spLocks noGrp="1"/>
          </p:cNvSpPr>
          <p:nvPr>
            <p:ph type="sldNum" sz="quarter" idx="10"/>
          </p:nvPr>
        </p:nvSpPr>
        <p:spPr/>
        <p:txBody>
          <a:bodyPr/>
          <a:lstStyle/>
          <a:p>
            <a:fld id="{748AEEFA-8A1D-43B1-A8B3-9A14753B7919}" type="slidenum">
              <a:rPr lang="zh-CN" altLang="en-US" smtClean="0"/>
              <a:t>7</a:t>
            </a:fld>
            <a:endParaRPr lang="zh-CN" altLang="en-US"/>
          </a:p>
        </p:txBody>
      </p:sp>
    </p:spTree>
    <p:extLst>
      <p:ext uri="{BB962C8B-B14F-4D97-AF65-F5344CB8AC3E}">
        <p14:creationId xmlns:p14="http://schemas.microsoft.com/office/powerpoint/2010/main" val="1398500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8</a:t>
            </a:fld>
            <a:endParaRPr lang="zh-CN" altLang="en-US"/>
          </a:p>
        </p:txBody>
      </p:sp>
    </p:spTree>
    <p:extLst>
      <p:ext uri="{BB962C8B-B14F-4D97-AF65-F5344CB8AC3E}">
        <p14:creationId xmlns:p14="http://schemas.microsoft.com/office/powerpoint/2010/main" val="329480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8AEEFA-8A1D-43B1-A8B3-9A14753B7919}" type="slidenum">
              <a:rPr lang="zh-CN" altLang="en-US" smtClean="0"/>
              <a:t>9</a:t>
            </a:fld>
            <a:endParaRPr lang="zh-CN" altLang="en-US"/>
          </a:p>
        </p:txBody>
      </p:sp>
    </p:spTree>
    <p:extLst>
      <p:ext uri="{BB962C8B-B14F-4D97-AF65-F5344CB8AC3E}">
        <p14:creationId xmlns:p14="http://schemas.microsoft.com/office/powerpoint/2010/main" val="2304859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8AEEFA-8A1D-43B1-A8B3-9A14753B7919}" type="slidenum">
              <a:rPr lang="zh-CN" altLang="en-US" smtClean="0"/>
              <a:t>10</a:t>
            </a:fld>
            <a:endParaRPr lang="zh-CN" altLang="en-US"/>
          </a:p>
        </p:txBody>
      </p:sp>
    </p:spTree>
    <p:extLst>
      <p:ext uri="{BB962C8B-B14F-4D97-AF65-F5344CB8AC3E}">
        <p14:creationId xmlns:p14="http://schemas.microsoft.com/office/powerpoint/2010/main" val="438886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11</a:t>
            </a:fld>
            <a:endParaRPr lang="zh-CN" altLang="en-US"/>
          </a:p>
        </p:txBody>
      </p:sp>
    </p:spTree>
    <p:extLst>
      <p:ext uri="{BB962C8B-B14F-4D97-AF65-F5344CB8AC3E}">
        <p14:creationId xmlns:p14="http://schemas.microsoft.com/office/powerpoint/2010/main" val="2383734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12</a:t>
            </a:fld>
            <a:endParaRPr lang="zh-CN" altLang="en-US"/>
          </a:p>
        </p:txBody>
      </p:sp>
    </p:spTree>
    <p:extLst>
      <p:ext uri="{BB962C8B-B14F-4D97-AF65-F5344CB8AC3E}">
        <p14:creationId xmlns:p14="http://schemas.microsoft.com/office/powerpoint/2010/main" val="361991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13</a:t>
            </a:fld>
            <a:endParaRPr lang="zh-CN" altLang="en-US"/>
          </a:p>
        </p:txBody>
      </p:sp>
    </p:spTree>
    <p:extLst>
      <p:ext uri="{BB962C8B-B14F-4D97-AF65-F5344CB8AC3E}">
        <p14:creationId xmlns:p14="http://schemas.microsoft.com/office/powerpoint/2010/main" val="3217121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进度汇报、质量检测</a:t>
            </a:r>
          </a:p>
        </p:txBody>
      </p:sp>
      <p:sp>
        <p:nvSpPr>
          <p:cNvPr id="4" name="灯片编号占位符 3"/>
          <p:cNvSpPr>
            <a:spLocks noGrp="1"/>
          </p:cNvSpPr>
          <p:nvPr>
            <p:ph type="sldNum" sz="quarter" idx="10"/>
          </p:nvPr>
        </p:nvSpPr>
        <p:spPr/>
        <p:txBody>
          <a:bodyPr/>
          <a:lstStyle/>
          <a:p>
            <a:fld id="{748AEEFA-8A1D-43B1-A8B3-9A14753B7919}" type="slidenum">
              <a:rPr lang="zh-CN" altLang="en-US" smtClean="0"/>
              <a:t>14</a:t>
            </a:fld>
            <a:endParaRPr lang="zh-CN" altLang="en-US"/>
          </a:p>
        </p:txBody>
      </p:sp>
    </p:spTree>
    <p:extLst>
      <p:ext uri="{BB962C8B-B14F-4D97-AF65-F5344CB8AC3E}">
        <p14:creationId xmlns:p14="http://schemas.microsoft.com/office/powerpoint/2010/main" val="276518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28E3A23-DE27-4733-AAD0-972943309144}" type="slidenum">
              <a:rPr lang="zh-CN" altLang="en-US" smtClean="0"/>
              <a:t>15</a:t>
            </a:fld>
            <a:endParaRPr lang="zh-CN" altLang="en-US"/>
          </a:p>
        </p:txBody>
      </p:sp>
    </p:spTree>
    <p:extLst>
      <p:ext uri="{BB962C8B-B14F-4D97-AF65-F5344CB8AC3E}">
        <p14:creationId xmlns:p14="http://schemas.microsoft.com/office/powerpoint/2010/main" val="3675782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8558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68765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07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Title Slide">
    <p:spTree>
      <p:nvGrpSpPr>
        <p:cNvPr id="1" name=""/>
        <p:cNvGrpSpPr/>
        <p:nvPr/>
      </p:nvGrpSpPr>
      <p:grpSpPr>
        <a:xfrm>
          <a:off x="0" y="0"/>
          <a:ext cx="0" cy="0"/>
          <a:chOff x="0" y="0"/>
          <a:chExt cx="0" cy="0"/>
        </a:xfrm>
      </p:grpSpPr>
      <p:sp>
        <p:nvSpPr>
          <p:cNvPr id="9" name="Title 8"/>
          <p:cNvSpPr>
            <a:spLocks noGrp="1"/>
          </p:cNvSpPr>
          <p:nvPr>
            <p:ph type="title"/>
          </p:nvPr>
        </p:nvSpPr>
        <p:spPr>
          <a:xfrm>
            <a:off x="1261947" y="4791307"/>
            <a:ext cx="3287752" cy="1325563"/>
          </a:xfrm>
          <a:prstGeom prst="rect">
            <a:avLst/>
          </a:prstGeom>
        </p:spPr>
        <p:txBody>
          <a:bodyPr/>
          <a:lstStyle>
            <a:lvl1pPr>
              <a:lnSpc>
                <a:spcPct val="70000"/>
              </a:lnSpc>
              <a:defRPr sz="3600" b="1" i="0">
                <a:latin typeface="Roboto Thin" charset="0"/>
                <a:ea typeface="Roboto Thin" charset="0"/>
                <a:cs typeface="Roboto Thin" charset="0"/>
              </a:defRPr>
            </a:lvl1pPr>
          </a:lstStyle>
          <a:p>
            <a:r>
              <a:rPr lang="en-US"/>
              <a:t>Click to edit Master title style</a:t>
            </a:r>
          </a:p>
        </p:txBody>
      </p:sp>
      <p:sp>
        <p:nvSpPr>
          <p:cNvPr id="8" name="Picture Placeholder 2"/>
          <p:cNvSpPr>
            <a:spLocks noGrp="1"/>
          </p:cNvSpPr>
          <p:nvPr>
            <p:ph type="pic" sz="quarter" idx="11" hasCustomPrompt="1"/>
          </p:nvPr>
        </p:nvSpPr>
        <p:spPr>
          <a:xfrm>
            <a:off x="5387685" y="1366411"/>
            <a:ext cx="2589153" cy="2348970"/>
          </a:xfrm>
          <a:prstGeom prst="round2SameRect">
            <a:avLst>
              <a:gd name="adj1" fmla="val 1159"/>
              <a:gd name="adj2" fmla="val 0"/>
            </a:avLst>
          </a:prstGeom>
          <a:pattFill prst="pct5">
            <a:fgClr>
              <a:schemeClr val="tx1"/>
            </a:fgClr>
            <a:bgClr>
              <a:schemeClr val="bg1">
                <a:lumMod val="85000"/>
              </a:schemeClr>
            </a:bgClr>
          </a:patt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0" name="Picture Placeholder 2"/>
          <p:cNvSpPr>
            <a:spLocks noGrp="1"/>
          </p:cNvSpPr>
          <p:nvPr>
            <p:ph type="pic" sz="quarter" idx="12" hasCustomPrompt="1"/>
          </p:nvPr>
        </p:nvSpPr>
        <p:spPr>
          <a:xfrm>
            <a:off x="8331608" y="1366411"/>
            <a:ext cx="2589153" cy="2348970"/>
          </a:xfrm>
          <a:prstGeom prst="round2SameRect">
            <a:avLst>
              <a:gd name="adj1" fmla="val 1159"/>
              <a:gd name="adj2" fmla="val 0"/>
            </a:avLst>
          </a:prstGeom>
          <a:pattFill prst="pct5">
            <a:fgClr>
              <a:schemeClr val="tx1"/>
            </a:fgClr>
            <a:bgClr>
              <a:schemeClr val="bg1">
                <a:lumMod val="85000"/>
              </a:schemeClr>
            </a:bgClr>
          </a:patt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337459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9" name="Title 8"/>
          <p:cNvSpPr>
            <a:spLocks noGrp="1"/>
          </p:cNvSpPr>
          <p:nvPr>
            <p:ph type="title"/>
          </p:nvPr>
        </p:nvSpPr>
        <p:spPr>
          <a:xfrm>
            <a:off x="1246049" y="815516"/>
            <a:ext cx="9699902" cy="528838"/>
          </a:xfrm>
          <a:prstGeom prst="rect">
            <a:avLst/>
          </a:prstGeom>
        </p:spPr>
        <p:txBody>
          <a:bodyPr/>
          <a:lstStyle>
            <a:lvl1pPr algn="ctr">
              <a:lnSpc>
                <a:spcPct val="70000"/>
              </a:lnSpc>
              <a:defRPr sz="3600" b="1" i="0">
                <a:latin typeface="Roboto Thin" charset="0"/>
                <a:ea typeface="Roboto Thin" charset="0"/>
                <a:cs typeface="Roboto Thin" charset="0"/>
              </a:defRPr>
            </a:lvl1pPr>
          </a:lstStyle>
          <a:p>
            <a:r>
              <a:rPr lang="en-US" dirty="0"/>
              <a:t>Click to edit Master title style</a:t>
            </a:r>
          </a:p>
        </p:txBody>
      </p:sp>
      <p:sp>
        <p:nvSpPr>
          <p:cNvPr id="4" name="Content Placeholder 3"/>
          <p:cNvSpPr>
            <a:spLocks noGrp="1"/>
          </p:cNvSpPr>
          <p:nvPr>
            <p:ph sz="quarter" idx="10"/>
          </p:nvPr>
        </p:nvSpPr>
        <p:spPr>
          <a:xfrm>
            <a:off x="1246049" y="1277850"/>
            <a:ext cx="9699901" cy="310169"/>
          </a:xfrm>
          <a:prstGeom prst="rect">
            <a:avLst/>
          </a:prstGeom>
        </p:spPr>
        <p:txBody>
          <a:bodyPr/>
          <a:lstStyle>
            <a:lvl1pPr marL="0" indent="0" algn="ctr">
              <a:buNone/>
              <a:defRPr sz="1100" b="0" i="0" spc="300">
                <a:solidFill>
                  <a:schemeClr val="tx1">
                    <a:alpha val="50000"/>
                  </a:schemeClr>
                </a:solidFill>
                <a:latin typeface="Roboto Medium" charset="0"/>
                <a:ea typeface="Roboto Medium" charset="0"/>
                <a:cs typeface="Roboto Medium" charset="0"/>
              </a:defRPr>
            </a:lvl1pPr>
          </a:lstStyle>
          <a:p>
            <a:pPr lvl="0"/>
            <a:r>
              <a:rPr lang="en-US" dirty="0"/>
              <a:t>Click to edit Master </a:t>
            </a:r>
            <a:r>
              <a:rPr lang="en-US"/>
              <a:t>text styles</a:t>
            </a:r>
            <a:endParaRPr lang="en-US" dirty="0"/>
          </a:p>
        </p:txBody>
      </p:sp>
      <p:sp>
        <p:nvSpPr>
          <p:cNvPr id="14" name="Picture Placeholder 2"/>
          <p:cNvSpPr>
            <a:spLocks noGrp="1"/>
          </p:cNvSpPr>
          <p:nvPr>
            <p:ph type="pic" sz="quarter" idx="11" hasCustomPrompt="1"/>
          </p:nvPr>
        </p:nvSpPr>
        <p:spPr>
          <a:xfrm>
            <a:off x="147494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5" name="Picture Placeholder 2"/>
          <p:cNvSpPr>
            <a:spLocks noGrp="1"/>
          </p:cNvSpPr>
          <p:nvPr>
            <p:ph type="pic" sz="quarter" idx="12" hasCustomPrompt="1"/>
          </p:nvPr>
        </p:nvSpPr>
        <p:spPr>
          <a:xfrm>
            <a:off x="409176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6" name="Picture Placeholder 2"/>
          <p:cNvSpPr>
            <a:spLocks noGrp="1"/>
          </p:cNvSpPr>
          <p:nvPr>
            <p:ph type="pic" sz="quarter" idx="13" hasCustomPrompt="1"/>
          </p:nvPr>
        </p:nvSpPr>
        <p:spPr>
          <a:xfrm>
            <a:off x="670858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7" name="Picture Placeholder 2"/>
          <p:cNvSpPr>
            <a:spLocks noGrp="1"/>
          </p:cNvSpPr>
          <p:nvPr>
            <p:ph type="pic" sz="quarter" idx="14" hasCustomPrompt="1"/>
          </p:nvPr>
        </p:nvSpPr>
        <p:spPr>
          <a:xfrm>
            <a:off x="9325403"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76861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childTnLst>
                                </p:cTn>
                              </p:par>
                              <p:par>
                                <p:cTn id="14" presetID="10" presetClass="entr" presetSubtype="0" fill="hold" grpId="0" nodeType="withEffect">
                                  <p:stCondLst>
                                    <p:cond delay="25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9_Title Slide">
    <p:spTree>
      <p:nvGrpSpPr>
        <p:cNvPr id="1" name=""/>
        <p:cNvGrpSpPr/>
        <p:nvPr/>
      </p:nvGrpSpPr>
      <p:grpSpPr>
        <a:xfrm>
          <a:off x="0" y="0"/>
          <a:ext cx="0" cy="0"/>
          <a:chOff x="0" y="0"/>
          <a:chExt cx="0" cy="0"/>
        </a:xfrm>
      </p:grpSpPr>
      <p:sp>
        <p:nvSpPr>
          <p:cNvPr id="9" name="Title 8"/>
          <p:cNvSpPr>
            <a:spLocks noGrp="1"/>
          </p:cNvSpPr>
          <p:nvPr>
            <p:ph type="title"/>
          </p:nvPr>
        </p:nvSpPr>
        <p:spPr>
          <a:xfrm>
            <a:off x="1261947" y="4791307"/>
            <a:ext cx="3287752" cy="1325563"/>
          </a:xfrm>
          <a:prstGeom prst="rect">
            <a:avLst/>
          </a:prstGeom>
        </p:spPr>
        <p:txBody>
          <a:bodyPr/>
          <a:lstStyle>
            <a:lvl1pPr>
              <a:lnSpc>
                <a:spcPct val="70000"/>
              </a:lnSpc>
              <a:defRPr sz="3600" b="1" i="0">
                <a:latin typeface="Roboto Thin" charset="0"/>
                <a:ea typeface="Roboto Thin" charset="0"/>
                <a:cs typeface="Roboto Thin" charset="0"/>
              </a:defRPr>
            </a:lvl1pPr>
          </a:lstStyle>
          <a:p>
            <a:r>
              <a:rPr lang="en-US"/>
              <a:t>Click to edit Master title style</a:t>
            </a:r>
          </a:p>
        </p:txBody>
      </p:sp>
      <p:sp>
        <p:nvSpPr>
          <p:cNvPr id="6" name="Picture Placeholder 11"/>
          <p:cNvSpPr>
            <a:spLocks noGrp="1"/>
          </p:cNvSpPr>
          <p:nvPr>
            <p:ph type="pic" sz="quarter" idx="12" hasCustomPrompt="1"/>
          </p:nvPr>
        </p:nvSpPr>
        <p:spPr>
          <a:xfrm>
            <a:off x="4123308" y="1349450"/>
            <a:ext cx="4339048" cy="4339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 fmla="*/ 24941 w 5024146"/>
              <a:gd name="connsiteY0" fmla="*/ 1246253 h 2498048"/>
              <a:gd name="connsiteX1" fmla="*/ 1819423 w 5024146"/>
              <a:gd name="connsiteY1" fmla="*/ 1246253 h 2498048"/>
              <a:gd name="connsiteX2" fmla="*/ 922182 w 5024146"/>
              <a:gd name="connsiteY2" fmla="*/ 2143494 h 2498048"/>
              <a:gd name="connsiteX3" fmla="*/ 24941 w 5024146"/>
              <a:gd name="connsiteY3" fmla="*/ 1246253 h 2498048"/>
              <a:gd name="connsiteX4" fmla="*/ 3775122 w 5024146"/>
              <a:gd name="connsiteY4" fmla="*/ 0 h 2498048"/>
              <a:gd name="connsiteX5" fmla="*/ 4302934 w 5024146"/>
              <a:gd name="connsiteY5" fmla="*/ 218627 h 2498048"/>
              <a:gd name="connsiteX6" fmla="*/ 4805519 w 5024146"/>
              <a:gd name="connsiteY6" fmla="*/ 721212 h 2498048"/>
              <a:gd name="connsiteX7" fmla="*/ 4805519 w 5024146"/>
              <a:gd name="connsiteY7" fmla="*/ 1776836 h 2498048"/>
              <a:gd name="connsiteX8" fmla="*/ 4302934 w 5024146"/>
              <a:gd name="connsiteY8" fmla="*/ 2279421 h 2498048"/>
              <a:gd name="connsiteX9" fmla="*/ 3247310 w 5024146"/>
              <a:gd name="connsiteY9" fmla="*/ 2279421 h 2498048"/>
              <a:gd name="connsiteX10" fmla="*/ 2744726 w 5024146"/>
              <a:gd name="connsiteY10" fmla="*/ 1776836 h 2498048"/>
              <a:gd name="connsiteX11" fmla="*/ 2744726 w 5024146"/>
              <a:gd name="connsiteY11" fmla="*/ 721212 h 2498048"/>
              <a:gd name="connsiteX12" fmla="*/ 3247310 w 5024146"/>
              <a:gd name="connsiteY12" fmla="*/ 218627 h 2498048"/>
              <a:gd name="connsiteX13" fmla="*/ 3775122 w 5024146"/>
              <a:gd name="connsiteY13" fmla="*/ 0 h 2498048"/>
              <a:gd name="connsiteX0" fmla="*/ 24941 w 5024146"/>
              <a:gd name="connsiteY0" fmla="*/ 1246253 h 2498048"/>
              <a:gd name="connsiteX1" fmla="*/ 922182 w 5024146"/>
              <a:gd name="connsiteY1" fmla="*/ 2143494 h 2498048"/>
              <a:gd name="connsiteX2" fmla="*/ 24941 w 5024146"/>
              <a:gd name="connsiteY2" fmla="*/ 1246253 h 2498048"/>
              <a:gd name="connsiteX3" fmla="*/ 3775122 w 5024146"/>
              <a:gd name="connsiteY3" fmla="*/ 0 h 2498048"/>
              <a:gd name="connsiteX4" fmla="*/ 4302934 w 5024146"/>
              <a:gd name="connsiteY4" fmla="*/ 218627 h 2498048"/>
              <a:gd name="connsiteX5" fmla="*/ 4805519 w 5024146"/>
              <a:gd name="connsiteY5" fmla="*/ 721212 h 2498048"/>
              <a:gd name="connsiteX6" fmla="*/ 4805519 w 5024146"/>
              <a:gd name="connsiteY6" fmla="*/ 1776836 h 2498048"/>
              <a:gd name="connsiteX7" fmla="*/ 4302934 w 5024146"/>
              <a:gd name="connsiteY7" fmla="*/ 2279421 h 2498048"/>
              <a:gd name="connsiteX8" fmla="*/ 3247310 w 5024146"/>
              <a:gd name="connsiteY8" fmla="*/ 2279421 h 2498048"/>
              <a:gd name="connsiteX9" fmla="*/ 2744726 w 5024146"/>
              <a:gd name="connsiteY9" fmla="*/ 1776836 h 2498048"/>
              <a:gd name="connsiteX10" fmla="*/ 2744726 w 5024146"/>
              <a:gd name="connsiteY10" fmla="*/ 721212 h 2498048"/>
              <a:gd name="connsiteX11" fmla="*/ 3247310 w 5024146"/>
              <a:gd name="connsiteY11" fmla="*/ 218627 h 2498048"/>
              <a:gd name="connsiteX12" fmla="*/ 3775122 w 5024146"/>
              <a:gd name="connsiteY12" fmla="*/ 0 h 2498048"/>
              <a:gd name="connsiteX0" fmla="*/ 1249024 w 2498048"/>
              <a:gd name="connsiteY0" fmla="*/ 0 h 2498048"/>
              <a:gd name="connsiteX1" fmla="*/ 1776836 w 2498048"/>
              <a:gd name="connsiteY1" fmla="*/ 218627 h 2498048"/>
              <a:gd name="connsiteX2" fmla="*/ 2279421 w 2498048"/>
              <a:gd name="connsiteY2" fmla="*/ 721212 h 2498048"/>
              <a:gd name="connsiteX3" fmla="*/ 2279421 w 2498048"/>
              <a:gd name="connsiteY3" fmla="*/ 1776836 h 2498048"/>
              <a:gd name="connsiteX4" fmla="*/ 1776836 w 2498048"/>
              <a:gd name="connsiteY4" fmla="*/ 2279421 h 2498048"/>
              <a:gd name="connsiteX5" fmla="*/ 721212 w 2498048"/>
              <a:gd name="connsiteY5" fmla="*/ 2279421 h 2498048"/>
              <a:gd name="connsiteX6" fmla="*/ 218628 w 2498048"/>
              <a:gd name="connsiteY6" fmla="*/ 1776836 h 2498048"/>
              <a:gd name="connsiteX7" fmla="*/ 218628 w 2498048"/>
              <a:gd name="connsiteY7" fmla="*/ 721212 h 2498048"/>
              <a:gd name="connsiteX8" fmla="*/ 721212 w 2498048"/>
              <a:gd name="connsiteY8" fmla="*/ 218627 h 2498048"/>
              <a:gd name="connsiteX9" fmla="*/ 1249024 w 2498048"/>
              <a:gd name="connsiteY9" fmla="*/ 0 h 2498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2889220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68_Title Slide">
    <p:spTree>
      <p:nvGrpSpPr>
        <p:cNvPr id="1" name=""/>
        <p:cNvGrpSpPr/>
        <p:nvPr/>
      </p:nvGrpSpPr>
      <p:grpSpPr>
        <a:xfrm>
          <a:off x="0" y="0"/>
          <a:ext cx="0" cy="0"/>
          <a:chOff x="0" y="0"/>
          <a:chExt cx="0" cy="0"/>
        </a:xfrm>
      </p:grpSpPr>
      <p:sp>
        <p:nvSpPr>
          <p:cNvPr id="9" name="Title 8"/>
          <p:cNvSpPr>
            <a:spLocks noGrp="1"/>
          </p:cNvSpPr>
          <p:nvPr>
            <p:ph type="title"/>
          </p:nvPr>
        </p:nvSpPr>
        <p:spPr>
          <a:xfrm>
            <a:off x="1246049" y="815516"/>
            <a:ext cx="9699902" cy="528838"/>
          </a:xfrm>
          <a:prstGeom prst="rect">
            <a:avLst/>
          </a:prstGeom>
        </p:spPr>
        <p:txBody>
          <a:bodyPr/>
          <a:lstStyle>
            <a:lvl1pPr algn="ctr">
              <a:lnSpc>
                <a:spcPct val="70000"/>
              </a:lnSpc>
              <a:defRPr sz="3600" b="1" i="0">
                <a:latin typeface="Roboto Thin" charset="0"/>
                <a:ea typeface="Roboto Thin" charset="0"/>
                <a:cs typeface="Roboto Thin" charset="0"/>
              </a:defRPr>
            </a:lvl1pPr>
          </a:lstStyle>
          <a:p>
            <a:r>
              <a:rPr lang="en-US" dirty="0"/>
              <a:t>Click to edit Master title style</a:t>
            </a:r>
          </a:p>
        </p:txBody>
      </p:sp>
      <p:sp>
        <p:nvSpPr>
          <p:cNvPr id="4" name="Content Placeholder 3"/>
          <p:cNvSpPr>
            <a:spLocks noGrp="1"/>
          </p:cNvSpPr>
          <p:nvPr>
            <p:ph sz="quarter" idx="10"/>
          </p:nvPr>
        </p:nvSpPr>
        <p:spPr>
          <a:xfrm>
            <a:off x="1246049" y="1277850"/>
            <a:ext cx="9699901" cy="310169"/>
          </a:xfrm>
          <a:prstGeom prst="rect">
            <a:avLst/>
          </a:prstGeom>
        </p:spPr>
        <p:txBody>
          <a:bodyPr/>
          <a:lstStyle>
            <a:lvl1pPr marL="0" indent="0" algn="ctr">
              <a:buNone/>
              <a:defRPr sz="1100" b="0" i="0" spc="300">
                <a:solidFill>
                  <a:schemeClr val="tx1">
                    <a:alpha val="50000"/>
                  </a:schemeClr>
                </a:solidFill>
                <a:latin typeface="Roboto Medium" charset="0"/>
                <a:ea typeface="Roboto Medium" charset="0"/>
                <a:cs typeface="Roboto Medium" charset="0"/>
              </a:defRPr>
            </a:lvl1pPr>
          </a:lstStyle>
          <a:p>
            <a:pPr lvl="0"/>
            <a:r>
              <a:rPr lang="en-US" dirty="0"/>
              <a:t>Click to edit Master </a:t>
            </a:r>
            <a:r>
              <a:rPr lang="en-US"/>
              <a:t>text styles</a:t>
            </a:r>
            <a:endParaRPr lang="en-US" dirty="0"/>
          </a:p>
        </p:txBody>
      </p:sp>
      <p:sp>
        <p:nvSpPr>
          <p:cNvPr id="12" name="Picture Placeholder 11"/>
          <p:cNvSpPr>
            <a:spLocks noGrp="1"/>
          </p:cNvSpPr>
          <p:nvPr>
            <p:ph type="pic" sz="quarter" idx="12" hasCustomPrompt="1"/>
          </p:nvPr>
        </p:nvSpPr>
        <p:spPr>
          <a:xfrm>
            <a:off x="4846975" y="2180244"/>
            <a:ext cx="2498048" cy="2498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 fmla="*/ 24941 w 5024146"/>
              <a:gd name="connsiteY0" fmla="*/ 1246253 h 2498048"/>
              <a:gd name="connsiteX1" fmla="*/ 1819423 w 5024146"/>
              <a:gd name="connsiteY1" fmla="*/ 1246253 h 2498048"/>
              <a:gd name="connsiteX2" fmla="*/ 922182 w 5024146"/>
              <a:gd name="connsiteY2" fmla="*/ 2143494 h 2498048"/>
              <a:gd name="connsiteX3" fmla="*/ 24941 w 5024146"/>
              <a:gd name="connsiteY3" fmla="*/ 1246253 h 2498048"/>
              <a:gd name="connsiteX4" fmla="*/ 3775122 w 5024146"/>
              <a:gd name="connsiteY4" fmla="*/ 0 h 2498048"/>
              <a:gd name="connsiteX5" fmla="*/ 4302934 w 5024146"/>
              <a:gd name="connsiteY5" fmla="*/ 218627 h 2498048"/>
              <a:gd name="connsiteX6" fmla="*/ 4805519 w 5024146"/>
              <a:gd name="connsiteY6" fmla="*/ 721212 h 2498048"/>
              <a:gd name="connsiteX7" fmla="*/ 4805519 w 5024146"/>
              <a:gd name="connsiteY7" fmla="*/ 1776836 h 2498048"/>
              <a:gd name="connsiteX8" fmla="*/ 4302934 w 5024146"/>
              <a:gd name="connsiteY8" fmla="*/ 2279421 h 2498048"/>
              <a:gd name="connsiteX9" fmla="*/ 3247310 w 5024146"/>
              <a:gd name="connsiteY9" fmla="*/ 2279421 h 2498048"/>
              <a:gd name="connsiteX10" fmla="*/ 2744726 w 5024146"/>
              <a:gd name="connsiteY10" fmla="*/ 1776836 h 2498048"/>
              <a:gd name="connsiteX11" fmla="*/ 2744726 w 5024146"/>
              <a:gd name="connsiteY11" fmla="*/ 721212 h 2498048"/>
              <a:gd name="connsiteX12" fmla="*/ 3247310 w 5024146"/>
              <a:gd name="connsiteY12" fmla="*/ 218627 h 2498048"/>
              <a:gd name="connsiteX13" fmla="*/ 3775122 w 5024146"/>
              <a:gd name="connsiteY13" fmla="*/ 0 h 2498048"/>
              <a:gd name="connsiteX0" fmla="*/ 24941 w 5024146"/>
              <a:gd name="connsiteY0" fmla="*/ 1246253 h 2498048"/>
              <a:gd name="connsiteX1" fmla="*/ 922182 w 5024146"/>
              <a:gd name="connsiteY1" fmla="*/ 2143494 h 2498048"/>
              <a:gd name="connsiteX2" fmla="*/ 24941 w 5024146"/>
              <a:gd name="connsiteY2" fmla="*/ 1246253 h 2498048"/>
              <a:gd name="connsiteX3" fmla="*/ 3775122 w 5024146"/>
              <a:gd name="connsiteY3" fmla="*/ 0 h 2498048"/>
              <a:gd name="connsiteX4" fmla="*/ 4302934 w 5024146"/>
              <a:gd name="connsiteY4" fmla="*/ 218627 h 2498048"/>
              <a:gd name="connsiteX5" fmla="*/ 4805519 w 5024146"/>
              <a:gd name="connsiteY5" fmla="*/ 721212 h 2498048"/>
              <a:gd name="connsiteX6" fmla="*/ 4805519 w 5024146"/>
              <a:gd name="connsiteY6" fmla="*/ 1776836 h 2498048"/>
              <a:gd name="connsiteX7" fmla="*/ 4302934 w 5024146"/>
              <a:gd name="connsiteY7" fmla="*/ 2279421 h 2498048"/>
              <a:gd name="connsiteX8" fmla="*/ 3247310 w 5024146"/>
              <a:gd name="connsiteY8" fmla="*/ 2279421 h 2498048"/>
              <a:gd name="connsiteX9" fmla="*/ 2744726 w 5024146"/>
              <a:gd name="connsiteY9" fmla="*/ 1776836 h 2498048"/>
              <a:gd name="connsiteX10" fmla="*/ 2744726 w 5024146"/>
              <a:gd name="connsiteY10" fmla="*/ 721212 h 2498048"/>
              <a:gd name="connsiteX11" fmla="*/ 3247310 w 5024146"/>
              <a:gd name="connsiteY11" fmla="*/ 218627 h 2498048"/>
              <a:gd name="connsiteX12" fmla="*/ 3775122 w 5024146"/>
              <a:gd name="connsiteY12" fmla="*/ 0 h 2498048"/>
              <a:gd name="connsiteX0" fmla="*/ 1249024 w 2498048"/>
              <a:gd name="connsiteY0" fmla="*/ 0 h 2498048"/>
              <a:gd name="connsiteX1" fmla="*/ 1776836 w 2498048"/>
              <a:gd name="connsiteY1" fmla="*/ 218627 h 2498048"/>
              <a:gd name="connsiteX2" fmla="*/ 2279421 w 2498048"/>
              <a:gd name="connsiteY2" fmla="*/ 721212 h 2498048"/>
              <a:gd name="connsiteX3" fmla="*/ 2279421 w 2498048"/>
              <a:gd name="connsiteY3" fmla="*/ 1776836 h 2498048"/>
              <a:gd name="connsiteX4" fmla="*/ 1776836 w 2498048"/>
              <a:gd name="connsiteY4" fmla="*/ 2279421 h 2498048"/>
              <a:gd name="connsiteX5" fmla="*/ 721212 w 2498048"/>
              <a:gd name="connsiteY5" fmla="*/ 2279421 h 2498048"/>
              <a:gd name="connsiteX6" fmla="*/ 218628 w 2498048"/>
              <a:gd name="connsiteY6" fmla="*/ 1776836 h 2498048"/>
              <a:gd name="connsiteX7" fmla="*/ 218628 w 2498048"/>
              <a:gd name="connsiteY7" fmla="*/ 721212 h 2498048"/>
              <a:gd name="connsiteX8" fmla="*/ 721212 w 2498048"/>
              <a:gd name="connsiteY8" fmla="*/ 218627 h 2498048"/>
              <a:gd name="connsiteX9" fmla="*/ 1249024 w 2498048"/>
              <a:gd name="connsiteY9" fmla="*/ 0 h 2498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180164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35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5049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精美</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课件：</a:t>
            </a:r>
            <a:r>
              <a:rPr kumimoji="0" lang="en-US" altLang="zh-CN" sz="100" b="0" i="0" u="none" strike="noStrike" kern="0" cap="none" spc="0" normalizeH="0" baseline="0" noProof="0" dirty="0">
                <a:ln>
                  <a:noFill/>
                </a:ln>
                <a:solidFill>
                  <a:prstClr val="white"/>
                </a:solidFill>
                <a:effectLst/>
                <a:uLnTx/>
                <a:uFillTx/>
              </a:rPr>
              <a:t>www.1ppt.com/kejian/             </a:t>
            </a: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工作总结</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www.1ppt.com/xiazai/zongjie/ </a:t>
            </a:r>
            <a:r>
              <a:rPr kumimoji="0" lang="zh-CN" altLang="en-US" sz="100" b="0" i="0" u="none" strike="noStrike" kern="0" cap="none" spc="0" normalizeH="0" baseline="0" noProof="0" dirty="0">
                <a:ln>
                  <a:noFill/>
                </a:ln>
                <a:solidFill>
                  <a:prstClr val="white"/>
                </a:solidFill>
                <a:effectLst/>
                <a:uLnTx/>
                <a:uFillTx/>
              </a:rPr>
              <a:t>工作计划：</a:t>
            </a:r>
            <a:r>
              <a:rPr kumimoji="0" lang="en-US" altLang="zh-CN" sz="100" b="0" i="0" u="none" strike="noStrike" kern="0" cap="none" spc="0" normalizeH="0" baseline="0" noProof="0" dirty="0">
                <a:ln>
                  <a:noFill/>
                </a:ln>
                <a:solidFill>
                  <a:prstClr val="white"/>
                </a:solidFill>
                <a:effectLst/>
                <a:uLnTx/>
                <a:uFillTx/>
              </a:rPr>
              <a:t>www.1ppt.com/xiazai/jihua/</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商务</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www.1ppt.com/moban/shangwu/  </a:t>
            </a:r>
            <a:r>
              <a:rPr kumimoji="0" lang="zh-CN" altLang="en-US" sz="100" b="0" i="0" u="none" strike="noStrike" kern="0" cap="none" spc="0" normalizeH="0" baseline="0" noProof="0" dirty="0">
                <a:ln>
                  <a:noFill/>
                </a:ln>
                <a:solidFill>
                  <a:prstClr val="white"/>
                </a:solidFill>
                <a:effectLst/>
                <a:uLnTx/>
                <a:uFillTx/>
              </a:rPr>
              <a:t>个人简历</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www.1ppt.com/xiazai/jianli/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毕业答辩</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www.1ppt.com/xiazai/dabian/  </a:t>
            </a:r>
            <a:r>
              <a:rPr kumimoji="0" lang="zh-CN" altLang="en-US" sz="100" b="0" i="0" u="none" strike="noStrike" kern="0" cap="none" spc="0" normalizeH="0" baseline="0" noProof="0" dirty="0">
                <a:ln>
                  <a:noFill/>
                </a:ln>
                <a:solidFill>
                  <a:prstClr val="white"/>
                </a:solidFill>
                <a:effectLst/>
                <a:uLnTx/>
                <a:uFillTx/>
              </a:rPr>
              <a:t>工作汇报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www.1ppt.com/xiazai/huibao/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p>
        </p:txBody>
      </p:sp>
    </p:spTree>
    <p:extLst>
      <p:ext uri="{BB962C8B-B14F-4D97-AF65-F5344CB8AC3E}">
        <p14:creationId xmlns:p14="http://schemas.microsoft.com/office/powerpoint/2010/main" val="1671074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249490" y="726698"/>
            <a:ext cx="4271367" cy="5566172"/>
          </a:xfrm>
          <a:custGeom>
            <a:avLst/>
            <a:gdLst/>
            <a:ahLst/>
            <a:cxnLst/>
            <a:rect l="l" t="t" r="r" b="b"/>
            <a:pathLst>
              <a:path w="4271367" h="5566172">
                <a:moveTo>
                  <a:pt x="2247305" y="0"/>
                </a:moveTo>
                <a:cubicBezTo>
                  <a:pt x="2542480" y="0"/>
                  <a:pt x="2814092" y="39688"/>
                  <a:pt x="3062139" y="119063"/>
                </a:cubicBezTo>
                <a:cubicBezTo>
                  <a:pt x="3310186" y="198438"/>
                  <a:pt x="3523506" y="311299"/>
                  <a:pt x="3702100" y="457647"/>
                </a:cubicBezTo>
                <a:cubicBezTo>
                  <a:pt x="3880694" y="603995"/>
                  <a:pt x="4020220" y="780728"/>
                  <a:pt x="4120679" y="987847"/>
                </a:cubicBezTo>
                <a:cubicBezTo>
                  <a:pt x="4221138" y="1194966"/>
                  <a:pt x="4271367" y="1426270"/>
                  <a:pt x="4271367" y="1681758"/>
                </a:cubicBezTo>
                <a:lnTo>
                  <a:pt x="2969121" y="1681758"/>
                </a:lnTo>
                <a:cubicBezTo>
                  <a:pt x="2969121" y="1580059"/>
                  <a:pt x="2953618" y="1486421"/>
                  <a:pt x="2922612" y="1400845"/>
                </a:cubicBezTo>
                <a:cubicBezTo>
                  <a:pt x="2891607" y="1315269"/>
                  <a:pt x="2844478" y="1242095"/>
                  <a:pt x="2781226" y="1181323"/>
                </a:cubicBezTo>
                <a:cubicBezTo>
                  <a:pt x="2717974" y="1120552"/>
                  <a:pt x="2639839" y="1072803"/>
                  <a:pt x="2546821" y="1038076"/>
                </a:cubicBezTo>
                <a:cubicBezTo>
                  <a:pt x="2453804" y="1003350"/>
                  <a:pt x="2344043" y="985987"/>
                  <a:pt x="2217539" y="985987"/>
                </a:cubicBezTo>
                <a:cubicBezTo>
                  <a:pt x="2093516" y="985987"/>
                  <a:pt x="1984375" y="1000249"/>
                  <a:pt x="1890118" y="1028775"/>
                </a:cubicBezTo>
                <a:cubicBezTo>
                  <a:pt x="1795860" y="1057300"/>
                  <a:pt x="1717105" y="1096988"/>
                  <a:pt x="1653853" y="1147837"/>
                </a:cubicBezTo>
                <a:cubicBezTo>
                  <a:pt x="1590601" y="1198687"/>
                  <a:pt x="1542852" y="1256978"/>
                  <a:pt x="1510606" y="1322710"/>
                </a:cubicBezTo>
                <a:cubicBezTo>
                  <a:pt x="1478360" y="1388442"/>
                  <a:pt x="1462237" y="1458516"/>
                  <a:pt x="1462237" y="1532930"/>
                </a:cubicBezTo>
                <a:cubicBezTo>
                  <a:pt x="1462237" y="1614785"/>
                  <a:pt x="1485181" y="1688579"/>
                  <a:pt x="1531070" y="1754312"/>
                </a:cubicBezTo>
                <a:cubicBezTo>
                  <a:pt x="1576958" y="1820044"/>
                  <a:pt x="1642691" y="1882056"/>
                  <a:pt x="1728267" y="1940347"/>
                </a:cubicBezTo>
                <a:cubicBezTo>
                  <a:pt x="1813843" y="1998638"/>
                  <a:pt x="1918023" y="2053208"/>
                  <a:pt x="2040806" y="2104058"/>
                </a:cubicBezTo>
                <a:cubicBezTo>
                  <a:pt x="2163589" y="2154908"/>
                  <a:pt x="2301875" y="2205137"/>
                  <a:pt x="2455664" y="2254746"/>
                </a:cubicBezTo>
                <a:cubicBezTo>
                  <a:pt x="2743398" y="2346524"/>
                  <a:pt x="3000127" y="2448223"/>
                  <a:pt x="3225850" y="2559844"/>
                </a:cubicBezTo>
                <a:cubicBezTo>
                  <a:pt x="3451573" y="2671465"/>
                  <a:pt x="3641948" y="2799209"/>
                  <a:pt x="3796978" y="2943076"/>
                </a:cubicBezTo>
                <a:cubicBezTo>
                  <a:pt x="3952007" y="3086944"/>
                  <a:pt x="4069830" y="3249414"/>
                  <a:pt x="4150445" y="3430489"/>
                </a:cubicBezTo>
                <a:cubicBezTo>
                  <a:pt x="4231060" y="3611563"/>
                  <a:pt x="4271367" y="3816202"/>
                  <a:pt x="4271367" y="4044405"/>
                </a:cubicBezTo>
                <a:cubicBezTo>
                  <a:pt x="4271367" y="4287491"/>
                  <a:pt x="4223618" y="4503911"/>
                  <a:pt x="4128120" y="4693667"/>
                </a:cubicBezTo>
                <a:cubicBezTo>
                  <a:pt x="4032622" y="4883423"/>
                  <a:pt x="3897437" y="5042794"/>
                  <a:pt x="3722564" y="5171778"/>
                </a:cubicBezTo>
                <a:cubicBezTo>
                  <a:pt x="3547691" y="5300762"/>
                  <a:pt x="3336851" y="5398741"/>
                  <a:pt x="3090044" y="5465713"/>
                </a:cubicBezTo>
                <a:cubicBezTo>
                  <a:pt x="2843238" y="5532686"/>
                  <a:pt x="2568525" y="5566172"/>
                  <a:pt x="2265908" y="5566172"/>
                </a:cubicBezTo>
                <a:cubicBezTo>
                  <a:pt x="2079873" y="5566172"/>
                  <a:pt x="1895078" y="5550669"/>
                  <a:pt x="1711524" y="5519663"/>
                </a:cubicBezTo>
                <a:cubicBezTo>
                  <a:pt x="1527969" y="5488658"/>
                  <a:pt x="1352476" y="5440909"/>
                  <a:pt x="1185044" y="5376416"/>
                </a:cubicBezTo>
                <a:cubicBezTo>
                  <a:pt x="1017613" y="5311924"/>
                  <a:pt x="861343" y="5230689"/>
                  <a:pt x="716235" y="5132710"/>
                </a:cubicBezTo>
                <a:cubicBezTo>
                  <a:pt x="571128" y="5034732"/>
                  <a:pt x="445864" y="4917530"/>
                  <a:pt x="340444" y="4781104"/>
                </a:cubicBezTo>
                <a:cubicBezTo>
                  <a:pt x="235025" y="4644678"/>
                  <a:pt x="151929" y="4489649"/>
                  <a:pt x="91157" y="4316016"/>
                </a:cubicBezTo>
                <a:cubicBezTo>
                  <a:pt x="30386" y="4142384"/>
                  <a:pt x="0" y="3948907"/>
                  <a:pt x="0" y="3735586"/>
                </a:cubicBezTo>
                <a:lnTo>
                  <a:pt x="1309688" y="3735586"/>
                </a:lnTo>
                <a:cubicBezTo>
                  <a:pt x="1309688" y="3894336"/>
                  <a:pt x="1330772" y="4027661"/>
                  <a:pt x="1372940" y="4135562"/>
                </a:cubicBezTo>
                <a:cubicBezTo>
                  <a:pt x="1415108" y="4243462"/>
                  <a:pt x="1477120" y="4330899"/>
                  <a:pt x="1558975" y="4397871"/>
                </a:cubicBezTo>
                <a:cubicBezTo>
                  <a:pt x="1640830" y="4464844"/>
                  <a:pt x="1740669" y="4512593"/>
                  <a:pt x="1858491" y="4541118"/>
                </a:cubicBezTo>
                <a:cubicBezTo>
                  <a:pt x="1976314" y="4569644"/>
                  <a:pt x="2112120" y="4583907"/>
                  <a:pt x="2265908" y="4583907"/>
                </a:cubicBezTo>
                <a:cubicBezTo>
                  <a:pt x="2389932" y="4583907"/>
                  <a:pt x="2495972" y="4569644"/>
                  <a:pt x="2584029" y="4541118"/>
                </a:cubicBezTo>
                <a:cubicBezTo>
                  <a:pt x="2672085" y="4512593"/>
                  <a:pt x="2744639" y="4474146"/>
                  <a:pt x="2801690" y="4425777"/>
                </a:cubicBezTo>
                <a:cubicBezTo>
                  <a:pt x="2858740" y="4377408"/>
                  <a:pt x="2900288" y="4320977"/>
                  <a:pt x="2926333" y="4256485"/>
                </a:cubicBezTo>
                <a:cubicBezTo>
                  <a:pt x="2952378" y="4191993"/>
                  <a:pt x="2965401" y="4123780"/>
                  <a:pt x="2965401" y="4051846"/>
                </a:cubicBezTo>
                <a:cubicBezTo>
                  <a:pt x="2965401" y="3967510"/>
                  <a:pt x="2953618" y="3891236"/>
                  <a:pt x="2930054" y="3823023"/>
                </a:cubicBezTo>
                <a:cubicBezTo>
                  <a:pt x="2906490" y="3754810"/>
                  <a:pt x="2859981" y="3690318"/>
                  <a:pt x="2790528" y="3629546"/>
                </a:cubicBezTo>
                <a:cubicBezTo>
                  <a:pt x="2721074" y="3568775"/>
                  <a:pt x="2623716" y="3508623"/>
                  <a:pt x="2498452" y="3449092"/>
                </a:cubicBezTo>
                <a:cubicBezTo>
                  <a:pt x="2373188" y="3389561"/>
                  <a:pt x="2208858" y="3326309"/>
                  <a:pt x="2005459" y="3259336"/>
                </a:cubicBezTo>
                <a:cubicBezTo>
                  <a:pt x="1767334" y="3179961"/>
                  <a:pt x="1537891" y="3090665"/>
                  <a:pt x="1317129" y="2991446"/>
                </a:cubicBezTo>
                <a:cubicBezTo>
                  <a:pt x="1096367" y="2892227"/>
                  <a:pt x="900410" y="2774405"/>
                  <a:pt x="729258" y="2637979"/>
                </a:cubicBezTo>
                <a:cubicBezTo>
                  <a:pt x="558106" y="2501553"/>
                  <a:pt x="421060" y="2342183"/>
                  <a:pt x="318120" y="2159868"/>
                </a:cubicBezTo>
                <a:cubicBezTo>
                  <a:pt x="215181" y="1977554"/>
                  <a:pt x="163711" y="1764854"/>
                  <a:pt x="163711" y="1521768"/>
                </a:cubicBezTo>
                <a:cubicBezTo>
                  <a:pt x="163711" y="1288604"/>
                  <a:pt x="215801" y="1078384"/>
                  <a:pt x="319981" y="891109"/>
                </a:cubicBezTo>
                <a:cubicBezTo>
                  <a:pt x="424160" y="703833"/>
                  <a:pt x="569268" y="544464"/>
                  <a:pt x="755303" y="412998"/>
                </a:cubicBezTo>
                <a:cubicBezTo>
                  <a:pt x="941338" y="281533"/>
                  <a:pt x="1161480" y="179835"/>
                  <a:pt x="1415728" y="107901"/>
                </a:cubicBezTo>
                <a:cubicBezTo>
                  <a:pt x="1669976" y="35967"/>
                  <a:pt x="1947168" y="0"/>
                  <a:pt x="2247305" y="0"/>
                </a:cubicBez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dirty="0"/>
              <a:t>Drag &amp; Drop Image</a:t>
            </a:r>
          </a:p>
        </p:txBody>
      </p:sp>
    </p:spTree>
    <p:extLst>
      <p:ext uri="{BB962C8B-B14F-4D97-AF65-F5344CB8AC3E}">
        <p14:creationId xmlns:p14="http://schemas.microsoft.com/office/powerpoint/2010/main" val="2400386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1_Title Slide">
    <p:spTree>
      <p:nvGrpSpPr>
        <p:cNvPr id="1" name=""/>
        <p:cNvGrpSpPr/>
        <p:nvPr/>
      </p:nvGrpSpPr>
      <p:grpSpPr>
        <a:xfrm>
          <a:off x="0" y="0"/>
          <a:ext cx="0" cy="0"/>
          <a:chOff x="0" y="0"/>
          <a:chExt cx="0" cy="0"/>
        </a:xfrm>
      </p:grpSpPr>
      <p:sp>
        <p:nvSpPr>
          <p:cNvPr id="13" name="Picture Placeholder 12"/>
          <p:cNvSpPr>
            <a:spLocks noGrp="1"/>
          </p:cNvSpPr>
          <p:nvPr>
            <p:ph type="pic" sz="quarter" idx="11" hasCustomPrompt="1"/>
          </p:nvPr>
        </p:nvSpPr>
        <p:spPr>
          <a:xfrm>
            <a:off x="384204" y="801112"/>
            <a:ext cx="6444258" cy="5417344"/>
          </a:xfrm>
          <a:custGeom>
            <a:avLst/>
            <a:gdLst/>
            <a:ahLst/>
            <a:cxnLst/>
            <a:rect l="l" t="t" r="r" b="b"/>
            <a:pathLst>
              <a:path w="6444258" h="5417344">
                <a:moveTo>
                  <a:pt x="0" y="0"/>
                </a:moveTo>
                <a:lnTo>
                  <a:pt x="1298526" y="0"/>
                </a:lnTo>
                <a:lnTo>
                  <a:pt x="1919883" y="3397002"/>
                </a:lnTo>
                <a:lnTo>
                  <a:pt x="2664024" y="0"/>
                </a:lnTo>
                <a:lnTo>
                  <a:pt x="3772793" y="0"/>
                </a:lnTo>
                <a:lnTo>
                  <a:pt x="4528096" y="3397002"/>
                </a:lnTo>
                <a:lnTo>
                  <a:pt x="5149453" y="0"/>
                </a:lnTo>
                <a:lnTo>
                  <a:pt x="6444258" y="0"/>
                </a:lnTo>
                <a:lnTo>
                  <a:pt x="5294560" y="5417344"/>
                </a:lnTo>
                <a:lnTo>
                  <a:pt x="3940225" y="5417344"/>
                </a:lnTo>
                <a:lnTo>
                  <a:pt x="3214688" y="2329161"/>
                </a:lnTo>
                <a:lnTo>
                  <a:pt x="2504033" y="5417344"/>
                </a:lnTo>
                <a:lnTo>
                  <a:pt x="1153418" y="5417344"/>
                </a:ln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3423724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2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268094" y="726698"/>
            <a:ext cx="4740175" cy="5566172"/>
          </a:xfrm>
          <a:custGeom>
            <a:avLst/>
            <a:gdLst/>
            <a:ahLst/>
            <a:cxnLst/>
            <a:rect l="l" t="t" r="r" b="b"/>
            <a:pathLst>
              <a:path w="4740175" h="5566172">
                <a:moveTo>
                  <a:pt x="2370088" y="1023194"/>
                </a:moveTo>
                <a:cubicBezTo>
                  <a:pt x="2020341" y="1023194"/>
                  <a:pt x="1759272" y="1162720"/>
                  <a:pt x="1586880" y="1441773"/>
                </a:cubicBezTo>
                <a:cubicBezTo>
                  <a:pt x="1414487" y="1720825"/>
                  <a:pt x="1328291" y="2129482"/>
                  <a:pt x="1328291" y="2667744"/>
                </a:cubicBezTo>
                <a:lnTo>
                  <a:pt x="1328291" y="2894707"/>
                </a:lnTo>
                <a:cubicBezTo>
                  <a:pt x="1328291" y="3425528"/>
                  <a:pt x="1416347" y="3833565"/>
                  <a:pt x="1592461" y="4118819"/>
                </a:cubicBezTo>
                <a:cubicBezTo>
                  <a:pt x="1768574" y="4404073"/>
                  <a:pt x="2030263" y="4546700"/>
                  <a:pt x="2377529" y="4546700"/>
                </a:cubicBezTo>
                <a:cubicBezTo>
                  <a:pt x="2709912" y="4546700"/>
                  <a:pt x="2965400" y="4404693"/>
                  <a:pt x="3143994" y="4120679"/>
                </a:cubicBezTo>
                <a:cubicBezTo>
                  <a:pt x="3322588" y="3836666"/>
                  <a:pt x="3411884" y="3428008"/>
                  <a:pt x="3411884" y="2894707"/>
                </a:cubicBezTo>
                <a:lnTo>
                  <a:pt x="3411884" y="2667744"/>
                </a:lnTo>
                <a:cubicBezTo>
                  <a:pt x="3411884" y="2129482"/>
                  <a:pt x="3321967" y="1720825"/>
                  <a:pt x="3142133" y="1441773"/>
                </a:cubicBezTo>
                <a:cubicBezTo>
                  <a:pt x="2962300" y="1162720"/>
                  <a:pt x="2704951" y="1023194"/>
                  <a:pt x="2370088" y="1023194"/>
                </a:cubicBezTo>
                <a:close/>
                <a:moveTo>
                  <a:pt x="2370088" y="0"/>
                </a:moveTo>
                <a:cubicBezTo>
                  <a:pt x="2714873" y="0"/>
                  <a:pt x="3032373" y="62012"/>
                  <a:pt x="3322588" y="186035"/>
                </a:cubicBezTo>
                <a:cubicBezTo>
                  <a:pt x="3612802" y="310059"/>
                  <a:pt x="3862710" y="487412"/>
                  <a:pt x="4072309" y="718096"/>
                </a:cubicBezTo>
                <a:cubicBezTo>
                  <a:pt x="4281909" y="948779"/>
                  <a:pt x="4445620" y="1229073"/>
                  <a:pt x="4563442" y="1558975"/>
                </a:cubicBezTo>
                <a:cubicBezTo>
                  <a:pt x="4681264" y="1888877"/>
                  <a:pt x="4740175" y="2260948"/>
                  <a:pt x="4740175" y="2675186"/>
                </a:cubicBezTo>
                <a:lnTo>
                  <a:pt x="4740175" y="2894707"/>
                </a:lnTo>
                <a:cubicBezTo>
                  <a:pt x="4740175" y="3308945"/>
                  <a:pt x="4681885" y="3681016"/>
                  <a:pt x="4565302" y="4010918"/>
                </a:cubicBezTo>
                <a:cubicBezTo>
                  <a:pt x="4448720" y="4340821"/>
                  <a:pt x="4285630" y="4621114"/>
                  <a:pt x="4076030" y="4851797"/>
                </a:cubicBezTo>
                <a:cubicBezTo>
                  <a:pt x="3866430" y="5082481"/>
                  <a:pt x="3617143" y="5259214"/>
                  <a:pt x="3328169" y="5381997"/>
                </a:cubicBezTo>
                <a:cubicBezTo>
                  <a:pt x="3039194" y="5504781"/>
                  <a:pt x="2722314" y="5566172"/>
                  <a:pt x="2377529" y="5566172"/>
                </a:cubicBezTo>
                <a:cubicBezTo>
                  <a:pt x="2027783" y="5566172"/>
                  <a:pt x="1707182" y="5504781"/>
                  <a:pt x="1415727" y="5381997"/>
                </a:cubicBezTo>
                <a:cubicBezTo>
                  <a:pt x="1124272" y="5259214"/>
                  <a:pt x="873745" y="5082481"/>
                  <a:pt x="664145" y="4851797"/>
                </a:cubicBezTo>
                <a:cubicBezTo>
                  <a:pt x="454546" y="4621114"/>
                  <a:pt x="291455" y="4340821"/>
                  <a:pt x="174873" y="4010918"/>
                </a:cubicBezTo>
                <a:cubicBezTo>
                  <a:pt x="58291" y="3681016"/>
                  <a:pt x="0" y="3308945"/>
                  <a:pt x="0" y="2894707"/>
                </a:cubicBezTo>
                <a:lnTo>
                  <a:pt x="0" y="2675186"/>
                </a:lnTo>
                <a:cubicBezTo>
                  <a:pt x="0" y="2260948"/>
                  <a:pt x="57671" y="1888877"/>
                  <a:pt x="173012" y="1558975"/>
                </a:cubicBezTo>
                <a:cubicBezTo>
                  <a:pt x="288354" y="1229073"/>
                  <a:pt x="450825" y="948779"/>
                  <a:pt x="660425" y="718096"/>
                </a:cubicBezTo>
                <a:cubicBezTo>
                  <a:pt x="870024" y="487412"/>
                  <a:pt x="1119931" y="310059"/>
                  <a:pt x="1410146" y="186035"/>
                </a:cubicBezTo>
                <a:cubicBezTo>
                  <a:pt x="1700361" y="62012"/>
                  <a:pt x="2020341" y="0"/>
                  <a:pt x="2370088" y="0"/>
                </a:cubicBez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dirty="0"/>
              <a:t>Drag &amp; Drop Image</a:t>
            </a:r>
          </a:p>
        </p:txBody>
      </p:sp>
    </p:spTree>
    <p:extLst>
      <p:ext uri="{BB962C8B-B14F-4D97-AF65-F5344CB8AC3E}">
        <p14:creationId xmlns:p14="http://schemas.microsoft.com/office/powerpoint/2010/main" val="3340426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3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145311" y="801112"/>
            <a:ext cx="4528095" cy="5417344"/>
          </a:xfrm>
          <a:custGeom>
            <a:avLst/>
            <a:gdLst/>
            <a:ahLst/>
            <a:cxnLst/>
            <a:rect l="l" t="t" r="r" b="b"/>
            <a:pathLst>
              <a:path w="4528095" h="5417344">
                <a:moveTo>
                  <a:pt x="0" y="0"/>
                </a:moveTo>
                <a:lnTo>
                  <a:pt x="4528095" y="0"/>
                </a:lnTo>
                <a:lnTo>
                  <a:pt x="4528095" y="1008311"/>
                </a:lnTo>
                <a:lnTo>
                  <a:pt x="2902148" y="1008311"/>
                </a:lnTo>
                <a:lnTo>
                  <a:pt x="2902148" y="5417344"/>
                </a:lnTo>
                <a:lnTo>
                  <a:pt x="1596181" y="5417344"/>
                </a:lnTo>
                <a:lnTo>
                  <a:pt x="1596181" y="1008311"/>
                </a:lnTo>
                <a:lnTo>
                  <a:pt x="0" y="1008311"/>
                </a:ln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1746502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1"/>
            <a:ext cx="12192001" cy="6858000"/>
          </a:xfrm>
          <a:prstGeom prst="rect">
            <a:avLst/>
          </a:prstGeom>
          <a:blipFill dpi="0" rotWithShape="1">
            <a:blip r:embed="rId1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2363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62" r:id="rId10"/>
    <p:sldLayoutId id="2147483657" r:id="rId11"/>
    <p:sldLayoutId id="2147483658" r:id="rId12"/>
    <p:sldLayoutId id="2147483659" r:id="rId13"/>
    <p:sldLayoutId id="214748366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任意多边形 39"/>
          <p:cNvSpPr/>
          <p:nvPr/>
        </p:nvSpPr>
        <p:spPr>
          <a:xfrm>
            <a:off x="1100797" y="-341224"/>
            <a:ext cx="9959926" cy="7540448"/>
          </a:xfrm>
          <a:custGeom>
            <a:avLst/>
            <a:gdLst>
              <a:gd name="connsiteX0" fmla="*/ 1572046 w 9058502"/>
              <a:gd name="connsiteY0" fmla="*/ 0 h 6858000"/>
              <a:gd name="connsiteX1" fmla="*/ 7486457 w 9058502"/>
              <a:gd name="connsiteY1" fmla="*/ 0 h 6858000"/>
              <a:gd name="connsiteX2" fmla="*/ 7574617 w 9058502"/>
              <a:gd name="connsiteY2" fmla="*/ 76367 h 6858000"/>
              <a:gd name="connsiteX3" fmla="*/ 9058502 w 9058502"/>
              <a:gd name="connsiteY3" fmla="*/ 3429000 h 6858000"/>
              <a:gd name="connsiteX4" fmla="*/ 7574617 w 9058502"/>
              <a:gd name="connsiteY4" fmla="*/ 6781634 h 6858000"/>
              <a:gd name="connsiteX5" fmla="*/ 7486457 w 9058502"/>
              <a:gd name="connsiteY5" fmla="*/ 6858000 h 6858000"/>
              <a:gd name="connsiteX6" fmla="*/ 1572046 w 9058502"/>
              <a:gd name="connsiteY6" fmla="*/ 6858000 h 6858000"/>
              <a:gd name="connsiteX7" fmla="*/ 1483885 w 9058502"/>
              <a:gd name="connsiteY7" fmla="*/ 6781634 h 6858000"/>
              <a:gd name="connsiteX8" fmla="*/ 0 w 9058502"/>
              <a:gd name="connsiteY8" fmla="*/ 3429000 h 6858000"/>
              <a:gd name="connsiteX9" fmla="*/ 1483885 w 9058502"/>
              <a:gd name="connsiteY9" fmla="*/ 763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58502" h="6858000">
                <a:moveTo>
                  <a:pt x="1572046" y="0"/>
                </a:moveTo>
                <a:lnTo>
                  <a:pt x="7486457" y="0"/>
                </a:lnTo>
                <a:lnTo>
                  <a:pt x="7574617" y="76367"/>
                </a:lnTo>
                <a:cubicBezTo>
                  <a:pt x="8486199" y="904893"/>
                  <a:pt x="9058502" y="2100112"/>
                  <a:pt x="9058502" y="3429000"/>
                </a:cubicBezTo>
                <a:cubicBezTo>
                  <a:pt x="9058502" y="4757888"/>
                  <a:pt x="8486199" y="5953108"/>
                  <a:pt x="7574617" y="6781634"/>
                </a:cubicBezTo>
                <a:lnTo>
                  <a:pt x="7486457" y="6858000"/>
                </a:lnTo>
                <a:lnTo>
                  <a:pt x="1572046" y="6858000"/>
                </a:lnTo>
                <a:lnTo>
                  <a:pt x="1483885" y="6781634"/>
                </a:lnTo>
                <a:cubicBezTo>
                  <a:pt x="572304" y="5953108"/>
                  <a:pt x="0" y="4757888"/>
                  <a:pt x="0" y="3429000"/>
                </a:cubicBezTo>
                <a:cubicBezTo>
                  <a:pt x="0" y="2100112"/>
                  <a:pt x="572304" y="904893"/>
                  <a:pt x="1483885" y="76367"/>
                </a:cubicBezTo>
                <a:close/>
              </a:path>
            </a:pathLst>
          </a:cu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黑体简体" panose="02010601030101010101" pitchFamily="2" charset="-122"/>
            </a:endParaRPr>
          </a:p>
        </p:txBody>
      </p:sp>
      <p:sp>
        <p:nvSpPr>
          <p:cNvPr id="25" name="任意多边形 24"/>
          <p:cNvSpPr/>
          <p:nvPr/>
        </p:nvSpPr>
        <p:spPr>
          <a:xfrm rot="16200000">
            <a:off x="2651761" y="-1100252"/>
            <a:ext cx="6857999" cy="9058502"/>
          </a:xfrm>
          <a:custGeom>
            <a:avLst/>
            <a:gdLst>
              <a:gd name="connsiteX0" fmla="*/ 6857999 w 6857999"/>
              <a:gd name="connsiteY0" fmla="*/ 1572046 h 9058502"/>
              <a:gd name="connsiteX1" fmla="*/ 6857999 w 6857999"/>
              <a:gd name="connsiteY1" fmla="*/ 7486457 h 9058502"/>
              <a:gd name="connsiteX2" fmla="*/ 6781632 w 6857999"/>
              <a:gd name="connsiteY2" fmla="*/ 7574617 h 9058502"/>
              <a:gd name="connsiteX3" fmla="*/ 3428999 w 6857999"/>
              <a:gd name="connsiteY3" fmla="*/ 9058502 h 9058502"/>
              <a:gd name="connsiteX4" fmla="*/ 76365 w 6857999"/>
              <a:gd name="connsiteY4" fmla="*/ 7574617 h 9058502"/>
              <a:gd name="connsiteX5" fmla="*/ 0 w 6857999"/>
              <a:gd name="connsiteY5" fmla="*/ 7486458 h 9058502"/>
              <a:gd name="connsiteX6" fmla="*/ 0 w 6857999"/>
              <a:gd name="connsiteY6" fmla="*/ 1572045 h 9058502"/>
              <a:gd name="connsiteX7" fmla="*/ 76365 w 6857999"/>
              <a:gd name="connsiteY7" fmla="*/ 1483885 h 9058502"/>
              <a:gd name="connsiteX8" fmla="*/ 3428999 w 6857999"/>
              <a:gd name="connsiteY8" fmla="*/ 0 h 9058502"/>
              <a:gd name="connsiteX9" fmla="*/ 6781632 w 6857999"/>
              <a:gd name="connsiteY9" fmla="*/ 1483885 h 905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9058502">
                <a:moveTo>
                  <a:pt x="6857999" y="1572046"/>
                </a:moveTo>
                <a:lnTo>
                  <a:pt x="6857999" y="7486457"/>
                </a:lnTo>
                <a:lnTo>
                  <a:pt x="6781632" y="7574617"/>
                </a:lnTo>
                <a:cubicBezTo>
                  <a:pt x="5953106" y="8486199"/>
                  <a:pt x="4757887" y="9058502"/>
                  <a:pt x="3428999" y="9058502"/>
                </a:cubicBezTo>
                <a:cubicBezTo>
                  <a:pt x="2100111" y="9058502"/>
                  <a:pt x="904891" y="8486199"/>
                  <a:pt x="76365" y="7574617"/>
                </a:cubicBezTo>
                <a:lnTo>
                  <a:pt x="0" y="7486458"/>
                </a:lnTo>
                <a:lnTo>
                  <a:pt x="0" y="1572045"/>
                </a:lnTo>
                <a:lnTo>
                  <a:pt x="76365" y="1483885"/>
                </a:lnTo>
                <a:cubicBezTo>
                  <a:pt x="904891" y="572304"/>
                  <a:pt x="2100111" y="0"/>
                  <a:pt x="3428999" y="0"/>
                </a:cubicBezTo>
                <a:cubicBezTo>
                  <a:pt x="4757887" y="0"/>
                  <a:pt x="5953106" y="572304"/>
                  <a:pt x="6781632" y="1483885"/>
                </a:cubicBezTo>
                <a:close/>
              </a:path>
            </a:pathLst>
          </a:custGeom>
          <a:blipFill dpi="0" rotWithShape="1">
            <a:blip r:embed="rId3" cstate="screen">
              <a:duotone>
                <a:schemeClr val="accent5">
                  <a:shade val="45000"/>
                  <a:satMod val="135000"/>
                </a:schemeClr>
                <a:prstClr val="white"/>
              </a:duotone>
              <a:extLst>
                <a:ext uri="{28A0092B-C50C-407E-A947-70E740481C1C}">
                  <a14:useLocalDpi xmlns:a14="http://schemas.microsoft.com/office/drawing/2010/main"/>
                </a:ext>
              </a:extLst>
            </a:blip>
            <a:srcRect/>
            <a:stretch>
              <a:fillRect/>
            </a:stretch>
          </a:blipFill>
          <a:ln>
            <a:noFill/>
          </a:ln>
          <a:effectLst>
            <a:outerShdw blurRad="698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方正黑体简体" panose="02010601030101010101" pitchFamily="2" charset="-122"/>
            </a:endParaRPr>
          </a:p>
        </p:txBody>
      </p:sp>
      <p:sp>
        <p:nvSpPr>
          <p:cNvPr id="3" name="椭圆 2"/>
          <p:cNvSpPr/>
          <p:nvPr/>
        </p:nvSpPr>
        <p:spPr>
          <a:xfrm>
            <a:off x="2138250" y="-487529"/>
            <a:ext cx="7885021" cy="7885021"/>
          </a:xfrm>
          <a:prstGeom prst="ellipse">
            <a:avLst/>
          </a:prstGeom>
          <a:solidFill>
            <a:schemeClr val="bg1"/>
          </a:solidFill>
          <a:ln>
            <a:noFill/>
          </a:ln>
          <a:effectLst>
            <a:glow rad="228600">
              <a:schemeClr val="tx1">
                <a:lumMod val="50000"/>
                <a:lumOff val="50000"/>
                <a:alpha val="14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3168856" y="3492817"/>
            <a:ext cx="6884894" cy="461665"/>
          </a:xfrm>
          <a:prstGeom prst="rect">
            <a:avLst/>
          </a:prstGeom>
          <a:noFill/>
        </p:spPr>
        <p:txBody>
          <a:bodyPr wrap="square" rtlCol="0">
            <a:spAutoFit/>
            <a:scene3d>
              <a:camera prst="orthographicFront"/>
              <a:lightRig rig="threePt" dir="t"/>
            </a:scene3d>
            <a:sp3d contourW="12700"/>
          </a:bodyPr>
          <a:lstStyle/>
          <a:p>
            <a:r>
              <a:rPr lang="zh-CN" altLang="en-US" sz="2400" dirty="0">
                <a:solidFill>
                  <a:srgbClr val="414141"/>
                </a:solidFill>
                <a:latin typeface="微软雅黑" panose="020B0503020204020204" pitchFamily="34" charset="-122"/>
                <a:ea typeface="微软雅黑" panose="020B0503020204020204" pitchFamily="34" charset="-122"/>
              </a:rPr>
              <a:t>小组成员：许雨嫣</a:t>
            </a:r>
            <a:r>
              <a:rPr lang="en-US" altLang="zh-CN" sz="2400" dirty="0">
                <a:solidFill>
                  <a:srgbClr val="414141"/>
                </a:solidFill>
                <a:latin typeface="微软雅黑" panose="020B0503020204020204" pitchFamily="34" charset="-122"/>
                <a:ea typeface="微软雅黑" panose="020B0503020204020204" pitchFamily="34" charset="-122"/>
              </a:rPr>
              <a:t>  </a:t>
            </a:r>
            <a:r>
              <a:rPr lang="zh-CN" altLang="en-US" sz="2400" dirty="0">
                <a:solidFill>
                  <a:srgbClr val="414141"/>
                </a:solidFill>
                <a:latin typeface="微软雅黑" panose="020B0503020204020204" pitchFamily="34" charset="-122"/>
                <a:ea typeface="微软雅黑" panose="020B0503020204020204" pitchFamily="34" charset="-122"/>
              </a:rPr>
              <a:t>吴一帆 </a:t>
            </a:r>
            <a:r>
              <a:rPr lang="en-US" altLang="zh-CN" sz="2400" dirty="0">
                <a:solidFill>
                  <a:srgbClr val="414141"/>
                </a:solidFill>
                <a:latin typeface="微软雅黑" panose="020B0503020204020204" pitchFamily="34" charset="-122"/>
                <a:ea typeface="微软雅黑" panose="020B0503020204020204" pitchFamily="34" charset="-122"/>
              </a:rPr>
              <a:t> </a:t>
            </a:r>
            <a:r>
              <a:rPr lang="zh-CN" altLang="en-US" sz="2400" dirty="0">
                <a:solidFill>
                  <a:srgbClr val="414141"/>
                </a:solidFill>
                <a:latin typeface="微软雅黑" panose="020B0503020204020204" pitchFamily="34" charset="-122"/>
                <a:ea typeface="微软雅黑" panose="020B0503020204020204" pitchFamily="34" charset="-122"/>
              </a:rPr>
              <a:t>何方政</a:t>
            </a:r>
            <a:r>
              <a:rPr lang="en-US" altLang="zh-CN" sz="2400" dirty="0">
                <a:solidFill>
                  <a:srgbClr val="414141"/>
                </a:solidFill>
                <a:latin typeface="微软雅黑" panose="020B0503020204020204" pitchFamily="34" charset="-122"/>
                <a:ea typeface="微软雅黑" panose="020B0503020204020204" pitchFamily="34" charset="-122"/>
              </a:rPr>
              <a:t>  </a:t>
            </a:r>
            <a:r>
              <a:rPr lang="zh-CN" altLang="en-US" sz="2400" dirty="0">
                <a:solidFill>
                  <a:srgbClr val="414141"/>
                </a:solidFill>
                <a:latin typeface="微软雅黑" panose="020B0503020204020204" pitchFamily="34" charset="-122"/>
                <a:ea typeface="微软雅黑" panose="020B0503020204020204" pitchFamily="34" charset="-122"/>
              </a:rPr>
              <a:t>方晨怡</a:t>
            </a:r>
          </a:p>
        </p:txBody>
      </p:sp>
      <p:sp>
        <p:nvSpPr>
          <p:cNvPr id="42" name="文本框 41"/>
          <p:cNvSpPr txBox="1"/>
          <p:nvPr/>
        </p:nvSpPr>
        <p:spPr>
          <a:xfrm>
            <a:off x="2705556" y="1955270"/>
            <a:ext cx="6955750" cy="1446550"/>
          </a:xfrm>
          <a:prstGeom prst="rect">
            <a:avLst/>
          </a:prstGeom>
          <a:noFill/>
          <a:effectLst>
            <a:outerShdw blurRad="254000" dist="63500" dir="2700000" algn="tl" rotWithShape="0">
              <a:prstClr val="black">
                <a:alpha val="30000"/>
              </a:prstClr>
            </a:outerShdw>
          </a:effectLst>
        </p:spPr>
        <p:txBody>
          <a:bodyPr wrap="none" rtlCol="0">
            <a:spAutoFit/>
            <a:scene3d>
              <a:camera prst="orthographicFront"/>
              <a:lightRig rig="threePt" dir="t"/>
            </a:scene3d>
            <a:sp3d contourW="12700"/>
          </a:bodyPr>
          <a:lstStyle/>
          <a:p>
            <a:pPr algn="ctr"/>
            <a:r>
              <a:rPr lang="zh-CN" altLang="en-US" sz="4400" dirty="0">
                <a:solidFill>
                  <a:srgbClr val="1D4C77"/>
                </a:solidFill>
                <a:latin typeface="Century Gothic" panose="020B0502020202020204" pitchFamily="34" charset="0"/>
                <a:ea typeface="方正黑体简体" panose="02010601030101010101" pitchFamily="2" charset="-122"/>
              </a:rPr>
              <a:t>佳能公司</a:t>
            </a:r>
            <a:endParaRPr lang="en-US" altLang="zh-CN" sz="4400" dirty="0">
              <a:solidFill>
                <a:srgbClr val="1D4C77"/>
              </a:solidFill>
              <a:latin typeface="Century Gothic" panose="020B0502020202020204" pitchFamily="34" charset="0"/>
              <a:ea typeface="方正黑体简体" panose="02010601030101010101" pitchFamily="2" charset="-122"/>
            </a:endParaRPr>
          </a:p>
          <a:p>
            <a:pPr algn="ctr"/>
            <a:r>
              <a:rPr lang="zh-CN" altLang="en-US" sz="4400" dirty="0">
                <a:solidFill>
                  <a:srgbClr val="1D4C77"/>
                </a:solidFill>
                <a:latin typeface="Century Gothic" panose="020B0502020202020204" pitchFamily="34" charset="0"/>
                <a:ea typeface="方正黑体简体" panose="02010601030101010101" pitchFamily="2" charset="-122"/>
              </a:rPr>
              <a:t>软件项目管理案例研究报告</a:t>
            </a:r>
          </a:p>
        </p:txBody>
      </p:sp>
      <p:grpSp>
        <p:nvGrpSpPr>
          <p:cNvPr id="55" name="组合 54"/>
          <p:cNvGrpSpPr/>
          <p:nvPr/>
        </p:nvGrpSpPr>
        <p:grpSpPr>
          <a:xfrm>
            <a:off x="4838366" y="4363107"/>
            <a:ext cx="2515268" cy="581041"/>
            <a:chOff x="4193094" y="5370940"/>
            <a:chExt cx="1863636" cy="337783"/>
          </a:xfrm>
        </p:grpSpPr>
        <p:sp>
          <p:nvSpPr>
            <p:cNvPr id="47" name="Rectangle: Rounded Corners 100"/>
            <p:cNvSpPr/>
            <p:nvPr/>
          </p:nvSpPr>
          <p:spPr>
            <a:xfrm>
              <a:off x="4193094" y="5370940"/>
              <a:ext cx="1863636" cy="337783"/>
            </a:xfrm>
            <a:prstGeom prst="roundRect">
              <a:avLst>
                <a:gd name="adj" fmla="val 50000"/>
              </a:avLst>
            </a:prstGeom>
            <a:gradFill>
              <a:gsLst>
                <a:gs pos="0">
                  <a:srgbClr val="595959"/>
                </a:gs>
                <a:gs pos="100000">
                  <a:schemeClr val="tx1">
                    <a:lumMod val="85000"/>
                    <a:lumOff val="15000"/>
                  </a:schemeClr>
                </a:gs>
              </a:gsLst>
              <a:lin ang="5400000" scaled="0"/>
            </a:gradFill>
            <a:ln w="19050">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chemeClr val="bg1"/>
                </a:solidFill>
                <a:latin typeface="Century Gothic" panose="020B0502020202020204" pitchFamily="34" charset="0"/>
                <a:ea typeface="方正黑体简体" panose="02010601030101010101" pitchFamily="2" charset="-122"/>
              </a:endParaRPr>
            </a:p>
          </p:txBody>
        </p:sp>
        <p:sp>
          <p:nvSpPr>
            <p:cNvPr id="49" name="原创设计师          _5"/>
            <p:cNvSpPr/>
            <p:nvPr/>
          </p:nvSpPr>
          <p:spPr>
            <a:xfrm>
              <a:off x="4293620" y="5422455"/>
              <a:ext cx="1662583" cy="214708"/>
            </a:xfrm>
            <a:prstGeom prst="rect">
              <a:avLst/>
            </a:prstGeom>
            <a:effectLst/>
          </p:spPr>
          <p:txBody>
            <a:bodyPr wrap="square">
              <a:spAutoFit/>
              <a:scene3d>
                <a:camera prst="orthographicFront"/>
                <a:lightRig rig="threePt" dir="t"/>
              </a:scene3d>
              <a:sp3d contourW="12700"/>
            </a:bodyPr>
            <a:lstStyle/>
            <a:p>
              <a:pPr algn="ctr"/>
              <a:r>
                <a:rPr lang="zh-CN" altLang="en-US" dirty="0">
                  <a:solidFill>
                    <a:schemeClr val="bg1"/>
                  </a:solidFill>
                  <a:latin typeface="方正黑体简体" panose="02010601030101010101" pitchFamily="2" charset="-122"/>
                  <a:ea typeface="方正黑体简体" panose="02010601030101010101" pitchFamily="2" charset="-122"/>
                </a:rPr>
                <a:t>汇报人：许雨嫣</a:t>
              </a:r>
            </a:p>
          </p:txBody>
        </p:sp>
      </p:grpSp>
      <p:sp>
        <p:nvSpPr>
          <p:cNvPr id="10" name="文本框 9">
            <a:extLst>
              <a:ext uri="{FF2B5EF4-FFF2-40B4-BE49-F238E27FC236}">
                <a16:creationId xmlns:a16="http://schemas.microsoft.com/office/drawing/2014/main" id="{B6A66133-CD6B-440C-A918-5CE81ABAC028}"/>
              </a:ext>
            </a:extLst>
          </p:cNvPr>
          <p:cNvSpPr txBox="1"/>
          <p:nvPr/>
        </p:nvSpPr>
        <p:spPr>
          <a:xfrm>
            <a:off x="4936684" y="5060266"/>
            <a:ext cx="2379592" cy="338554"/>
          </a:xfrm>
          <a:prstGeom prst="rect">
            <a:avLst/>
          </a:prstGeom>
          <a:noFill/>
        </p:spPr>
        <p:txBody>
          <a:bodyPr wrap="square" rtlCol="0">
            <a:spAutoFit/>
            <a:scene3d>
              <a:camera prst="orthographicFront"/>
              <a:lightRig rig="threePt" dir="t"/>
            </a:scene3d>
            <a:sp3d contourW="12700"/>
          </a:bodyPr>
          <a:lstStyle/>
          <a:p>
            <a:r>
              <a:rPr lang="zh-CN" altLang="en-US" sz="1600" dirty="0">
                <a:solidFill>
                  <a:srgbClr val="414141"/>
                </a:solidFill>
                <a:latin typeface="微软雅黑" panose="020B0503020204020204" pitchFamily="34" charset="-122"/>
                <a:ea typeface="微软雅黑" panose="020B0503020204020204" pitchFamily="34" charset="-122"/>
              </a:rPr>
              <a:t>汇报时间：</a:t>
            </a:r>
            <a:r>
              <a:rPr lang="en-US" altLang="zh-CN" sz="1600" dirty="0">
                <a:solidFill>
                  <a:srgbClr val="414141"/>
                </a:solidFill>
                <a:latin typeface="微软雅黑" panose="020B0503020204020204" pitchFamily="34" charset="-122"/>
                <a:ea typeface="微软雅黑" panose="020B0503020204020204" pitchFamily="34" charset="-122"/>
              </a:rPr>
              <a:t>2020/05/27</a:t>
            </a:r>
            <a:endParaRPr lang="zh-CN" altLang="en-US" sz="1600" dirty="0">
              <a:solidFill>
                <a:srgbClr val="41414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929945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315329" y="1619967"/>
            <a:ext cx="471953" cy="473084"/>
          </a:xfrm>
          <a:prstGeom prst="rect">
            <a:avLst/>
          </a:prstGeom>
          <a:noFill/>
          <a:ln w="38100">
            <a:solidFill>
              <a:srgbClr val="1D4C77"/>
            </a:solidFill>
          </a:ln>
          <a:effectLst>
            <a:outerShdw blurRad="3810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3600" y="5982789"/>
            <a:ext cx="12195600" cy="875211"/>
          </a:xfrm>
          <a:prstGeom prst="rect">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21"/>
          <p:cNvSpPr txBox="1"/>
          <p:nvPr/>
        </p:nvSpPr>
        <p:spPr>
          <a:xfrm>
            <a:off x="6304538" y="2080625"/>
            <a:ext cx="4657630" cy="2172518"/>
          </a:xfrm>
          <a:prstGeom prst="rect">
            <a:avLst/>
          </a:prstGeom>
          <a:noFill/>
        </p:spPr>
        <p:txBody>
          <a:bodyPr wrap="square" lIns="0" tIns="0" rIns="0" bIns="0" rtlCol="0">
            <a:spAutoFit/>
          </a:bodyPr>
          <a:lstStyle/>
          <a:p>
            <a:pPr>
              <a:lnSpc>
                <a:spcPct val="150000"/>
              </a:lnSpc>
            </a:pP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rPr>
              <a:t>二十一世纪初</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，佳能公司通过参与市场竞争中标了</a:t>
            </a: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rPr>
              <a:t>东京市某区政府的打印机软件项目</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打印机软件主要用于各办事街道的政务处理。在软件项目开发中，因为管理体系保守且理论运用不够成熟，导致其遇到了一系列项目管理问题，最终导致项目延期且费用透支，甚至损害了公司的一定声誉</a:t>
            </a: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rPr>
              <a:t>。</a:t>
            </a:r>
            <a:endParaRPr lang="en-US" altLang="zh-CN" sz="1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00</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32" name="文本框 31"/>
          <p:cNvSpPr txBox="1"/>
          <p:nvPr/>
        </p:nvSpPr>
        <p:spPr>
          <a:xfrm>
            <a:off x="1596521" y="881860"/>
            <a:ext cx="5977325" cy="276999"/>
          </a:xfrm>
          <a:prstGeom prst="rect">
            <a:avLst/>
          </a:prstGeom>
          <a:noFill/>
        </p:spPr>
        <p:txBody>
          <a:bodyPr wrap="square" rtlCol="0">
            <a:spAutoFit/>
            <a:scene3d>
              <a:camera prst="orthographicFront"/>
              <a:lightRig rig="threePt" dir="t"/>
            </a:scene3d>
            <a:sp3d contourW="12700"/>
          </a:bodyPr>
          <a:lstStyle/>
          <a:p>
            <a:r>
              <a:rPr lang="en-US" altLang="zh-CN" sz="1200" dirty="0">
                <a:solidFill>
                  <a:schemeClr val="tx1">
                    <a:lumMod val="65000"/>
                    <a:lumOff val="35000"/>
                  </a:schemeClr>
                </a:solidFill>
                <a:latin typeface="Century Gothic" panose="020B0502020202020204" pitchFamily="34" charset="0"/>
                <a:ea typeface="方正黑体简体" panose="02010601030101010101" pitchFamily="2" charset="-122"/>
              </a:rPr>
              <a:t>Introduction to Business Planning Projects</a:t>
            </a:r>
          </a:p>
        </p:txBody>
      </p:sp>
      <p:sp>
        <p:nvSpPr>
          <p:cNvPr id="33" name="文本框 32"/>
          <p:cNvSpPr txBox="1"/>
          <p:nvPr/>
        </p:nvSpPr>
        <p:spPr>
          <a:xfrm>
            <a:off x="1568385" y="432980"/>
            <a:ext cx="1620957"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项目简介</a:t>
            </a:r>
          </a:p>
        </p:txBody>
      </p:sp>
      <p:sp>
        <p:nvSpPr>
          <p:cNvPr id="35" name="矩形 34"/>
          <p:cNvSpPr/>
          <p:nvPr/>
        </p:nvSpPr>
        <p:spPr>
          <a:xfrm>
            <a:off x="1513076" y="1798172"/>
            <a:ext cx="3553097" cy="3981958"/>
          </a:xfrm>
          <a:prstGeom prst="rect">
            <a:avLst/>
          </a:prstGeom>
          <a:solidFill>
            <a:schemeClr val="bg1"/>
          </a:solidFill>
          <a:ln>
            <a:noFill/>
          </a:ln>
          <a:effectLst>
            <a:outerShdw blurRad="3810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2585098" y="4273660"/>
            <a:ext cx="1569660" cy="369332"/>
          </a:xfrm>
          <a:prstGeom prst="rect">
            <a:avLst/>
          </a:prstGeom>
          <a:noFill/>
        </p:spPr>
        <p:txBody>
          <a:bodyPr wrap="none" rtlCol="0">
            <a:spAutoFit/>
            <a:scene3d>
              <a:camera prst="orthographicFront"/>
              <a:lightRig rig="threePt" dir="t"/>
            </a:scene3d>
            <a:sp3d contourW="12700"/>
          </a:bodyPr>
          <a:lstStyle/>
          <a:p>
            <a:r>
              <a:rPr lang="zh-CN" altLang="en-US" b="1" dirty="0">
                <a:solidFill>
                  <a:srgbClr val="414141"/>
                </a:solidFill>
                <a:ea typeface="方正黑体简体" panose="02010601030101010101" pitchFamily="2" charset="-122"/>
              </a:rPr>
              <a:t>佳能株式会社</a:t>
            </a:r>
          </a:p>
        </p:txBody>
      </p:sp>
      <p:sp>
        <p:nvSpPr>
          <p:cNvPr id="42" name="文本框 41"/>
          <p:cNvSpPr txBox="1"/>
          <p:nvPr/>
        </p:nvSpPr>
        <p:spPr>
          <a:xfrm>
            <a:off x="1848369" y="4663184"/>
            <a:ext cx="2987339" cy="815223"/>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50" dirty="0">
                <a:solidFill>
                  <a:prstClr val="white">
                    <a:lumMod val="50000"/>
                  </a:prstClr>
                </a:solidFill>
                <a:latin typeface="Adobe 宋体 Std L" panose="02020300000000000000" pitchFamily="18" charset="-122"/>
                <a:ea typeface="Adobe 宋体 Std L" panose="02020300000000000000" pitchFamily="18" charset="-122"/>
              </a:rPr>
              <a:t>全球领先的生产影像与信息产品的综合集团，佳能的产品系列共分布于三大领域：个人产品、办公设备和工业设备，主要产品包括照相机、镜头、数码相机、打印机、复印机及半导体生产设备等。</a:t>
            </a:r>
            <a:endParaRPr lang="en-US" altLang="zh-CN" sz="1050" dirty="0">
              <a:solidFill>
                <a:prstClr val="white">
                  <a:lumMod val="50000"/>
                </a:prstClr>
              </a:solidFill>
              <a:latin typeface="Adobe 宋体 Std L" panose="02020300000000000000" pitchFamily="18" charset="-122"/>
              <a:ea typeface="Adobe 宋体 Std L" panose="02020300000000000000" pitchFamily="18" charset="-122"/>
            </a:endParaRPr>
          </a:p>
        </p:txBody>
      </p:sp>
      <p:pic>
        <p:nvPicPr>
          <p:cNvPr id="3" name="图片 2">
            <a:extLst>
              <a:ext uri="{FF2B5EF4-FFF2-40B4-BE49-F238E27FC236}">
                <a16:creationId xmlns:a16="http://schemas.microsoft.com/office/drawing/2014/main" id="{A1FB68D9-A000-4B5B-9D38-940389E29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3539" y="2080625"/>
            <a:ext cx="3092169" cy="1941882"/>
          </a:xfrm>
          <a:prstGeom prst="rect">
            <a:avLst/>
          </a:prstGeom>
        </p:spPr>
      </p:pic>
    </p:spTree>
    <p:extLst>
      <p:ext uri="{BB962C8B-B14F-4D97-AF65-F5344CB8AC3E}">
        <p14:creationId xmlns:p14="http://schemas.microsoft.com/office/powerpoint/2010/main" val="35561784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a:cxnSpLocks/>
          </p:cNvCxnSpPr>
          <p:nvPr/>
        </p:nvCxnSpPr>
        <p:spPr>
          <a:xfrm flipV="1">
            <a:off x="185979" y="3368040"/>
            <a:ext cx="11820041" cy="481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3859721" y="3288975"/>
            <a:ext cx="234028" cy="234028"/>
            <a:chOff x="7927343" y="2668909"/>
            <a:chExt cx="268762" cy="268762"/>
          </a:xfrm>
        </p:grpSpPr>
        <p:sp>
          <p:nvSpPr>
            <p:cNvPr id="13" name="椭圆 12"/>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79663" y="2721229"/>
              <a:ext cx="164123" cy="164123"/>
            </a:xfrm>
            <a:prstGeom prst="ellipse">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1299401" y="3288975"/>
            <a:ext cx="234028" cy="234028"/>
            <a:chOff x="7927343" y="2668909"/>
            <a:chExt cx="268762" cy="268762"/>
          </a:xfrm>
        </p:grpSpPr>
        <p:sp>
          <p:nvSpPr>
            <p:cNvPr id="16" name="椭圆 15"/>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979663" y="2721229"/>
              <a:ext cx="164123" cy="164123"/>
            </a:xfrm>
            <a:prstGeom prst="ellipse">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圆角矩形 10"/>
          <p:cNvSpPr/>
          <p:nvPr/>
        </p:nvSpPr>
        <p:spPr>
          <a:xfrm>
            <a:off x="2602874" y="4200460"/>
            <a:ext cx="3137525" cy="1856165"/>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TextBox 7">
            <a:extLst>
              <a:ext uri="{FF2B5EF4-FFF2-40B4-BE49-F238E27FC236}">
                <a16:creationId xmlns:a16="http://schemas.microsoft.com/office/drawing/2014/main" id="{1FA339DF-9CF0-4906-9A5E-4BCF8712453E}"/>
              </a:ext>
            </a:extLst>
          </p:cNvPr>
          <p:cNvSpPr txBox="1"/>
          <p:nvPr/>
        </p:nvSpPr>
        <p:spPr>
          <a:xfrm>
            <a:off x="871709" y="3679028"/>
            <a:ext cx="1323439" cy="369332"/>
          </a:xfrm>
          <a:prstGeom prst="rect">
            <a:avLst/>
          </a:prstGeom>
          <a:noFill/>
        </p:spPr>
        <p:txBody>
          <a:bodyPr wrap="square" rtlCol="0">
            <a:spAutoFit/>
          </a:bodyPr>
          <a:lstStyle/>
          <a:p>
            <a:r>
              <a:rPr lang="en-US" altLang="zh-CN" dirty="0">
                <a:solidFill>
                  <a:srgbClr val="4F4D50"/>
                </a:solidFill>
                <a:latin typeface="方正黑体简体" panose="02010601030101010101" pitchFamily="2" charset="-122"/>
                <a:ea typeface="方正黑体简体" panose="02010601030101010101" pitchFamily="2" charset="-122"/>
                <a:cs typeface="+mn-ea"/>
                <a:sym typeface="+mn-lt"/>
              </a:rPr>
              <a:t>2000.04</a:t>
            </a:r>
          </a:p>
        </p:txBody>
      </p:sp>
      <p:sp>
        <p:nvSpPr>
          <p:cNvPr id="29" name="TextBox 21">
            <a:extLst>
              <a:ext uri="{FF2B5EF4-FFF2-40B4-BE49-F238E27FC236}">
                <a16:creationId xmlns:a16="http://schemas.microsoft.com/office/drawing/2014/main" id="{E52004E8-FD19-45B4-9234-CDCA8EDCDB21}"/>
              </a:ext>
            </a:extLst>
          </p:cNvPr>
          <p:cNvSpPr txBox="1"/>
          <p:nvPr/>
        </p:nvSpPr>
        <p:spPr>
          <a:xfrm>
            <a:off x="2732318" y="4317473"/>
            <a:ext cx="2973415" cy="1577740"/>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进程过半 </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进度变缓</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再过两周 </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大面积拖延</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模块负责人开会</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前期完成各模块内部的较简单功能</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后期难度变大，进展艰难</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0" name="圆角矩形 10">
            <a:extLst>
              <a:ext uri="{FF2B5EF4-FFF2-40B4-BE49-F238E27FC236}">
                <a16:creationId xmlns:a16="http://schemas.microsoft.com/office/drawing/2014/main" id="{1BEAE164-A6C8-4054-A4E2-4DF10A1F9FE7}"/>
              </a:ext>
            </a:extLst>
          </p:cNvPr>
          <p:cNvSpPr/>
          <p:nvPr/>
        </p:nvSpPr>
        <p:spPr>
          <a:xfrm>
            <a:off x="2614516" y="6173638"/>
            <a:ext cx="3137525" cy="450682"/>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TextBox 21">
            <a:extLst>
              <a:ext uri="{FF2B5EF4-FFF2-40B4-BE49-F238E27FC236}">
                <a16:creationId xmlns:a16="http://schemas.microsoft.com/office/drawing/2014/main" id="{640E5CB4-625C-4D45-89E3-EC986AF8D86F}"/>
              </a:ext>
            </a:extLst>
          </p:cNvPr>
          <p:cNvSpPr txBox="1"/>
          <p:nvPr/>
        </p:nvSpPr>
        <p:spPr>
          <a:xfrm>
            <a:off x="2730036" y="6220919"/>
            <a:ext cx="2884711" cy="285078"/>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决策：加班！外包！</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2" name="TextBox 7">
            <a:extLst>
              <a:ext uri="{FF2B5EF4-FFF2-40B4-BE49-F238E27FC236}">
                <a16:creationId xmlns:a16="http://schemas.microsoft.com/office/drawing/2014/main" id="{B5C20118-983A-44C9-9E05-71AFF7566A9B}"/>
              </a:ext>
            </a:extLst>
          </p:cNvPr>
          <p:cNvSpPr txBox="1"/>
          <p:nvPr/>
        </p:nvSpPr>
        <p:spPr>
          <a:xfrm>
            <a:off x="9979288" y="3604712"/>
            <a:ext cx="1866402" cy="369332"/>
          </a:xfrm>
          <a:prstGeom prst="rect">
            <a:avLst/>
          </a:prstGeom>
          <a:noFill/>
        </p:spPr>
        <p:txBody>
          <a:bodyPr wrap="square" rtlCol="0">
            <a:spAutoFit/>
          </a:bodyPr>
          <a:lstStyle/>
          <a:p>
            <a:r>
              <a:rPr lang="en-US" altLang="zh-CN" dirty="0">
                <a:solidFill>
                  <a:srgbClr val="4F4D50"/>
                </a:solidFill>
                <a:latin typeface="方正黑体简体" panose="02010601030101010101" pitchFamily="2" charset="-122"/>
                <a:ea typeface="方正黑体简体" panose="02010601030101010101" pitchFamily="2" charset="-122"/>
                <a:cs typeface="+mn-ea"/>
                <a:sym typeface="+mn-lt"/>
              </a:rPr>
              <a:t>2001.10</a:t>
            </a:r>
          </a:p>
        </p:txBody>
      </p:sp>
      <p:sp>
        <p:nvSpPr>
          <p:cNvPr id="33" name="圆角矩形 10">
            <a:extLst>
              <a:ext uri="{FF2B5EF4-FFF2-40B4-BE49-F238E27FC236}">
                <a16:creationId xmlns:a16="http://schemas.microsoft.com/office/drawing/2014/main" id="{9049A87F-74F6-45A6-AAE0-B827505BCF9B}"/>
              </a:ext>
            </a:extLst>
          </p:cNvPr>
          <p:cNvSpPr/>
          <p:nvPr/>
        </p:nvSpPr>
        <p:spPr>
          <a:xfrm>
            <a:off x="3518159" y="1006444"/>
            <a:ext cx="3394400" cy="1619114"/>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TextBox 21">
            <a:extLst>
              <a:ext uri="{FF2B5EF4-FFF2-40B4-BE49-F238E27FC236}">
                <a16:creationId xmlns:a16="http://schemas.microsoft.com/office/drawing/2014/main" id="{8BD10995-55E2-47F5-8BDE-1679FFCA7D41}"/>
              </a:ext>
            </a:extLst>
          </p:cNvPr>
          <p:cNvSpPr txBox="1"/>
          <p:nvPr/>
        </p:nvSpPr>
        <p:spPr>
          <a:xfrm>
            <a:off x="3740118" y="1138700"/>
            <a:ext cx="2631650" cy="1537024"/>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原有人手被抽调</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混乱情况下出现偷懒现象</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打印模块负责人向项目经理反映</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项目经理 </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新 </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人员调配无实权</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5" name="圆角矩形 10">
            <a:extLst>
              <a:ext uri="{FF2B5EF4-FFF2-40B4-BE49-F238E27FC236}">
                <a16:creationId xmlns:a16="http://schemas.microsoft.com/office/drawing/2014/main" id="{18EB3FD1-D38A-43FC-A906-8960F5445B5D}"/>
              </a:ext>
            </a:extLst>
          </p:cNvPr>
          <p:cNvSpPr/>
          <p:nvPr/>
        </p:nvSpPr>
        <p:spPr>
          <a:xfrm>
            <a:off x="3521438" y="250027"/>
            <a:ext cx="3391121" cy="625794"/>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TextBox 21">
            <a:extLst>
              <a:ext uri="{FF2B5EF4-FFF2-40B4-BE49-F238E27FC236}">
                <a16:creationId xmlns:a16="http://schemas.microsoft.com/office/drawing/2014/main" id="{9C2FEEDB-BC21-4EAD-AF62-A3D92EED4F14}"/>
              </a:ext>
            </a:extLst>
          </p:cNvPr>
          <p:cNvSpPr txBox="1"/>
          <p:nvPr/>
        </p:nvSpPr>
        <p:spPr>
          <a:xfrm>
            <a:off x="3730012" y="393193"/>
            <a:ext cx="3268680" cy="286261"/>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决策：总经理出面协调人员安排问题</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41" name="组合 40">
            <a:extLst>
              <a:ext uri="{FF2B5EF4-FFF2-40B4-BE49-F238E27FC236}">
                <a16:creationId xmlns:a16="http://schemas.microsoft.com/office/drawing/2014/main" id="{88385B64-8871-4EB3-8C5B-82E1D0A22FBA}"/>
              </a:ext>
            </a:extLst>
          </p:cNvPr>
          <p:cNvGrpSpPr/>
          <p:nvPr/>
        </p:nvGrpSpPr>
        <p:grpSpPr>
          <a:xfrm>
            <a:off x="7882124" y="3248423"/>
            <a:ext cx="234028" cy="234028"/>
            <a:chOff x="7927343" y="2668909"/>
            <a:chExt cx="268762" cy="268762"/>
          </a:xfrm>
        </p:grpSpPr>
        <p:sp>
          <p:nvSpPr>
            <p:cNvPr id="42" name="椭圆 41">
              <a:extLst>
                <a:ext uri="{FF2B5EF4-FFF2-40B4-BE49-F238E27FC236}">
                  <a16:creationId xmlns:a16="http://schemas.microsoft.com/office/drawing/2014/main" id="{C527E178-E023-48EF-869C-76B48BA017D1}"/>
                </a:ext>
              </a:extLst>
            </p:cNvPr>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504E420E-4C7F-488E-861A-BA1F2BE0FBC8}"/>
                </a:ext>
              </a:extLst>
            </p:cNvPr>
            <p:cNvSpPr/>
            <p:nvPr/>
          </p:nvSpPr>
          <p:spPr>
            <a:xfrm>
              <a:off x="7979663" y="2721229"/>
              <a:ext cx="164123" cy="164123"/>
            </a:xfrm>
            <a:prstGeom prst="ellipse">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圆角矩形 10">
            <a:extLst>
              <a:ext uri="{FF2B5EF4-FFF2-40B4-BE49-F238E27FC236}">
                <a16:creationId xmlns:a16="http://schemas.microsoft.com/office/drawing/2014/main" id="{FA271264-3C9A-4D13-8212-2EABE2E66EBC}"/>
              </a:ext>
            </a:extLst>
          </p:cNvPr>
          <p:cNvSpPr/>
          <p:nvPr/>
        </p:nvSpPr>
        <p:spPr>
          <a:xfrm>
            <a:off x="6619453" y="5651027"/>
            <a:ext cx="2867350" cy="401493"/>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TextBox 21">
            <a:extLst>
              <a:ext uri="{FF2B5EF4-FFF2-40B4-BE49-F238E27FC236}">
                <a16:creationId xmlns:a16="http://schemas.microsoft.com/office/drawing/2014/main" id="{D5DDFACD-1528-489E-8B3F-F3FA04132F8C}"/>
              </a:ext>
            </a:extLst>
          </p:cNvPr>
          <p:cNvSpPr txBox="1"/>
          <p:nvPr/>
        </p:nvSpPr>
        <p:spPr>
          <a:xfrm>
            <a:off x="6734974" y="5698308"/>
            <a:ext cx="2636306" cy="285078"/>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决策：重新划定各组测试任务</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圆角矩形 10">
            <a:extLst>
              <a:ext uri="{FF2B5EF4-FFF2-40B4-BE49-F238E27FC236}">
                <a16:creationId xmlns:a16="http://schemas.microsoft.com/office/drawing/2014/main" id="{CE5C891B-5611-40F6-9D36-DF2D94479708}"/>
              </a:ext>
            </a:extLst>
          </p:cNvPr>
          <p:cNvSpPr/>
          <p:nvPr/>
        </p:nvSpPr>
        <p:spPr>
          <a:xfrm>
            <a:off x="8605525" y="1091705"/>
            <a:ext cx="3240165" cy="1537024"/>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TextBox 21">
            <a:extLst>
              <a:ext uri="{FF2B5EF4-FFF2-40B4-BE49-F238E27FC236}">
                <a16:creationId xmlns:a16="http://schemas.microsoft.com/office/drawing/2014/main" id="{DECD728A-6D62-4A44-891C-C68630104463}"/>
              </a:ext>
            </a:extLst>
          </p:cNvPr>
          <p:cNvSpPr txBox="1"/>
          <p:nvPr/>
        </p:nvSpPr>
        <p:spPr>
          <a:xfrm>
            <a:off x="8796712" y="1232466"/>
            <a:ext cx="2867350" cy="1254574"/>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外包部分出现较大故障</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原定外包公司留下解决故障</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公司领导答应了政府全组留驻的要求</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处理故障的花费不在原合同范围内</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49" name="直接连接符 48">
            <a:extLst>
              <a:ext uri="{FF2B5EF4-FFF2-40B4-BE49-F238E27FC236}">
                <a16:creationId xmlns:a16="http://schemas.microsoft.com/office/drawing/2014/main" id="{E5943C46-39C8-44BB-B7E3-8904F450042D}"/>
              </a:ext>
            </a:extLst>
          </p:cNvPr>
          <p:cNvCxnSpPr>
            <a:cxnSpLocks/>
          </p:cNvCxnSpPr>
          <p:nvPr/>
        </p:nvCxnSpPr>
        <p:spPr>
          <a:xfrm>
            <a:off x="3977071" y="3478679"/>
            <a:ext cx="0" cy="71173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DE6CD62-A5CF-42EF-B6BB-0447C20B7252}"/>
              </a:ext>
            </a:extLst>
          </p:cNvPr>
          <p:cNvSpPr txBox="1"/>
          <p:nvPr/>
        </p:nvSpPr>
        <p:spPr>
          <a:xfrm>
            <a:off x="3386471" y="2858341"/>
            <a:ext cx="1323439" cy="369332"/>
          </a:xfrm>
          <a:prstGeom prst="rect">
            <a:avLst/>
          </a:prstGeom>
          <a:noFill/>
        </p:spPr>
        <p:txBody>
          <a:bodyPr wrap="square" rtlCol="0">
            <a:spAutoFit/>
          </a:bodyPr>
          <a:lstStyle/>
          <a:p>
            <a:r>
              <a:rPr lang="en-US" altLang="zh-CN" dirty="0">
                <a:solidFill>
                  <a:srgbClr val="4F4D50"/>
                </a:solidFill>
                <a:latin typeface="方正黑体简体" panose="02010601030101010101" pitchFamily="2" charset="-122"/>
                <a:ea typeface="方正黑体简体" panose="02010601030101010101" pitchFamily="2" charset="-122"/>
                <a:cs typeface="+mn-ea"/>
                <a:sym typeface="+mn-lt"/>
              </a:rPr>
              <a:t>2000.11</a:t>
            </a:r>
          </a:p>
        </p:txBody>
      </p:sp>
      <p:cxnSp>
        <p:nvCxnSpPr>
          <p:cNvPr id="56" name="直接连接符 55">
            <a:extLst>
              <a:ext uri="{FF2B5EF4-FFF2-40B4-BE49-F238E27FC236}">
                <a16:creationId xmlns:a16="http://schemas.microsoft.com/office/drawing/2014/main" id="{DA10FA37-6C28-4C9D-B41B-D837BD54B860}"/>
              </a:ext>
            </a:extLst>
          </p:cNvPr>
          <p:cNvCxnSpPr>
            <a:cxnSpLocks/>
          </p:cNvCxnSpPr>
          <p:nvPr/>
        </p:nvCxnSpPr>
        <p:spPr>
          <a:xfrm>
            <a:off x="5102856" y="2631459"/>
            <a:ext cx="0" cy="71173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4981331" y="3282697"/>
            <a:ext cx="234028" cy="234028"/>
            <a:chOff x="7927343" y="2668909"/>
            <a:chExt cx="268762" cy="268762"/>
          </a:xfrm>
        </p:grpSpPr>
        <p:sp>
          <p:nvSpPr>
            <p:cNvPr id="19" name="椭圆 18"/>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979663" y="2721229"/>
              <a:ext cx="164123" cy="164123"/>
            </a:xfrm>
            <a:prstGeom prst="ellipse">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7" name="直接连接符 56">
            <a:extLst>
              <a:ext uri="{FF2B5EF4-FFF2-40B4-BE49-F238E27FC236}">
                <a16:creationId xmlns:a16="http://schemas.microsoft.com/office/drawing/2014/main" id="{2C3B401D-5ED1-4398-A75F-578479FD94F6}"/>
              </a:ext>
            </a:extLst>
          </p:cNvPr>
          <p:cNvCxnSpPr>
            <a:cxnSpLocks/>
          </p:cNvCxnSpPr>
          <p:nvPr/>
        </p:nvCxnSpPr>
        <p:spPr>
          <a:xfrm>
            <a:off x="7999138" y="3435355"/>
            <a:ext cx="0" cy="133984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圆角矩形 10">
            <a:extLst>
              <a:ext uri="{FF2B5EF4-FFF2-40B4-BE49-F238E27FC236}">
                <a16:creationId xmlns:a16="http://schemas.microsoft.com/office/drawing/2014/main" id="{35D926DA-DFA6-4A05-B7D4-FE9C7C91A5F1}"/>
              </a:ext>
            </a:extLst>
          </p:cNvPr>
          <p:cNvSpPr/>
          <p:nvPr/>
        </p:nvSpPr>
        <p:spPr>
          <a:xfrm>
            <a:off x="6622491" y="4200460"/>
            <a:ext cx="2864312" cy="1257741"/>
          </a:xfrm>
          <a:prstGeom prst="roundRect">
            <a:avLst>
              <a:gd name="adj" fmla="val 7184"/>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TextBox 21">
            <a:extLst>
              <a:ext uri="{FF2B5EF4-FFF2-40B4-BE49-F238E27FC236}">
                <a16:creationId xmlns:a16="http://schemas.microsoft.com/office/drawing/2014/main" id="{EFD6848A-DE20-4173-825E-5D96D0E93289}"/>
              </a:ext>
            </a:extLst>
          </p:cNvPr>
          <p:cNvSpPr txBox="1"/>
          <p:nvPr/>
        </p:nvSpPr>
        <p:spPr>
          <a:xfrm>
            <a:off x="6765454" y="4317474"/>
            <a:ext cx="2636306" cy="931409"/>
          </a:xfrm>
          <a:prstGeom prst="rect">
            <a:avLst/>
          </a:prstGeom>
          <a:noFill/>
        </p:spPr>
        <p:txBody>
          <a:bodyPr wrap="square" lIns="0" tIns="0" rIns="0" bIns="0" rtlCol="0">
            <a:spAutoFit/>
          </a:bodyPr>
          <a:lstStyle/>
          <a:p>
            <a:pP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各模块测试负责人开会</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多模块存在进度落后</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rPr>
              <a:t>重复测试</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4" name="TextBox 7">
            <a:extLst>
              <a:ext uri="{FF2B5EF4-FFF2-40B4-BE49-F238E27FC236}">
                <a16:creationId xmlns:a16="http://schemas.microsoft.com/office/drawing/2014/main" id="{2FC9161C-A194-480E-BEBB-386DB1C76A69}"/>
              </a:ext>
            </a:extLst>
          </p:cNvPr>
          <p:cNvSpPr txBox="1"/>
          <p:nvPr/>
        </p:nvSpPr>
        <p:spPr>
          <a:xfrm>
            <a:off x="7498671" y="2838804"/>
            <a:ext cx="1866402" cy="369332"/>
          </a:xfrm>
          <a:prstGeom prst="rect">
            <a:avLst/>
          </a:prstGeom>
          <a:noFill/>
        </p:spPr>
        <p:txBody>
          <a:bodyPr wrap="square" rtlCol="0">
            <a:spAutoFit/>
          </a:bodyPr>
          <a:lstStyle/>
          <a:p>
            <a:r>
              <a:rPr lang="en-US" altLang="zh-CN" dirty="0">
                <a:solidFill>
                  <a:srgbClr val="4F4D50"/>
                </a:solidFill>
                <a:latin typeface="方正黑体简体" panose="02010601030101010101" pitchFamily="2" charset="-122"/>
                <a:ea typeface="方正黑体简体" panose="02010601030101010101" pitchFamily="2" charset="-122"/>
                <a:cs typeface="+mn-ea"/>
                <a:sym typeface="+mn-lt"/>
              </a:rPr>
              <a:t>2001.07</a:t>
            </a:r>
          </a:p>
        </p:txBody>
      </p:sp>
      <p:cxnSp>
        <p:nvCxnSpPr>
          <p:cNvPr id="58" name="直接连接符 57">
            <a:extLst>
              <a:ext uri="{FF2B5EF4-FFF2-40B4-BE49-F238E27FC236}">
                <a16:creationId xmlns:a16="http://schemas.microsoft.com/office/drawing/2014/main" id="{7DCA7E66-8664-499E-8218-DCABA0C6CC17}"/>
              </a:ext>
            </a:extLst>
          </p:cNvPr>
          <p:cNvCxnSpPr>
            <a:cxnSpLocks/>
          </p:cNvCxnSpPr>
          <p:nvPr/>
        </p:nvCxnSpPr>
        <p:spPr>
          <a:xfrm>
            <a:off x="10511966" y="2631459"/>
            <a:ext cx="0" cy="71173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66F3F1D0-08A8-4BFC-8DF1-CA9738EC885E}"/>
              </a:ext>
            </a:extLst>
          </p:cNvPr>
          <p:cNvGrpSpPr/>
          <p:nvPr/>
        </p:nvGrpSpPr>
        <p:grpSpPr>
          <a:xfrm>
            <a:off x="10394952" y="3264920"/>
            <a:ext cx="234028" cy="234028"/>
            <a:chOff x="7927343" y="2668909"/>
            <a:chExt cx="268762" cy="268762"/>
          </a:xfrm>
        </p:grpSpPr>
        <p:sp>
          <p:nvSpPr>
            <p:cNvPr id="51" name="椭圆 50">
              <a:extLst>
                <a:ext uri="{FF2B5EF4-FFF2-40B4-BE49-F238E27FC236}">
                  <a16:creationId xmlns:a16="http://schemas.microsoft.com/office/drawing/2014/main" id="{33AAB826-7D02-42C7-8ACF-E222F18653D9}"/>
                </a:ext>
              </a:extLst>
            </p:cNvPr>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CCF2D67D-4F4A-43D0-952A-31A0A251A1BA}"/>
                </a:ext>
              </a:extLst>
            </p:cNvPr>
            <p:cNvSpPr/>
            <p:nvPr/>
          </p:nvSpPr>
          <p:spPr>
            <a:xfrm>
              <a:off x="7979663" y="2721229"/>
              <a:ext cx="164123" cy="164123"/>
            </a:xfrm>
            <a:prstGeom prst="ellipse">
              <a:avLst/>
            </a:pr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TextBox 7">
            <a:extLst>
              <a:ext uri="{FF2B5EF4-FFF2-40B4-BE49-F238E27FC236}">
                <a16:creationId xmlns:a16="http://schemas.microsoft.com/office/drawing/2014/main" id="{F6880A24-2A34-429B-A0B4-054E7DE5E435}"/>
              </a:ext>
            </a:extLst>
          </p:cNvPr>
          <p:cNvSpPr txBox="1"/>
          <p:nvPr/>
        </p:nvSpPr>
        <p:spPr>
          <a:xfrm>
            <a:off x="4484962" y="3625075"/>
            <a:ext cx="1866402" cy="369332"/>
          </a:xfrm>
          <a:prstGeom prst="rect">
            <a:avLst/>
          </a:prstGeom>
          <a:noFill/>
        </p:spPr>
        <p:txBody>
          <a:bodyPr wrap="square" rtlCol="0">
            <a:spAutoFit/>
          </a:bodyPr>
          <a:lstStyle/>
          <a:p>
            <a:r>
              <a:rPr lang="en-US" altLang="zh-CN" dirty="0">
                <a:solidFill>
                  <a:srgbClr val="4F4D50"/>
                </a:solidFill>
                <a:latin typeface="方正黑体简体" panose="02010601030101010101" pitchFamily="2" charset="-122"/>
                <a:ea typeface="方正黑体简体" panose="02010601030101010101" pitchFamily="2" charset="-122"/>
                <a:cs typeface="+mn-ea"/>
                <a:sym typeface="+mn-lt"/>
              </a:rPr>
              <a:t>2000.12</a:t>
            </a:r>
          </a:p>
        </p:txBody>
      </p:sp>
    </p:spTree>
    <p:extLst>
      <p:ext uri="{BB962C8B-B14F-4D97-AF65-F5344CB8AC3E}">
        <p14:creationId xmlns:p14="http://schemas.microsoft.com/office/powerpoint/2010/main" val="425229301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任意多边形 61"/>
          <p:cNvSpPr/>
          <p:nvPr/>
        </p:nvSpPr>
        <p:spPr>
          <a:xfrm>
            <a:off x="1072926" y="-8632"/>
            <a:ext cx="10639698" cy="6866632"/>
          </a:xfrm>
          <a:custGeom>
            <a:avLst/>
            <a:gdLst>
              <a:gd name="connsiteX0" fmla="*/ 1572046 w 10639698"/>
              <a:gd name="connsiteY0" fmla="*/ 0 h 6866632"/>
              <a:gd name="connsiteX1" fmla="*/ 5264571 w 10639698"/>
              <a:gd name="connsiteY1" fmla="*/ 0 h 6866632"/>
              <a:gd name="connsiteX2" fmla="*/ 7486457 w 10639698"/>
              <a:gd name="connsiteY2" fmla="*/ 0 h 6866632"/>
              <a:gd name="connsiteX3" fmla="*/ 10639698 w 10639698"/>
              <a:gd name="connsiteY3" fmla="*/ 0 h 6866632"/>
              <a:gd name="connsiteX4" fmla="*/ 10639698 w 10639698"/>
              <a:gd name="connsiteY4" fmla="*/ 6857554 h 6866632"/>
              <a:gd name="connsiteX5" fmla="*/ 7496924 w 10639698"/>
              <a:gd name="connsiteY5" fmla="*/ 6857554 h 6866632"/>
              <a:gd name="connsiteX6" fmla="*/ 7486457 w 10639698"/>
              <a:gd name="connsiteY6" fmla="*/ 6866632 h 6866632"/>
              <a:gd name="connsiteX7" fmla="*/ 1572046 w 10639698"/>
              <a:gd name="connsiteY7" fmla="*/ 6866632 h 6866632"/>
              <a:gd name="connsiteX8" fmla="*/ 1483885 w 10639698"/>
              <a:gd name="connsiteY8" fmla="*/ 6790170 h 6866632"/>
              <a:gd name="connsiteX9" fmla="*/ 0 w 10639698"/>
              <a:gd name="connsiteY9" fmla="*/ 3433316 h 6866632"/>
              <a:gd name="connsiteX10" fmla="*/ 1483885 w 10639698"/>
              <a:gd name="connsiteY10" fmla="*/ 76463 h 686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39698" h="6866632">
                <a:moveTo>
                  <a:pt x="1572046" y="0"/>
                </a:moveTo>
                <a:lnTo>
                  <a:pt x="5264571" y="0"/>
                </a:lnTo>
                <a:lnTo>
                  <a:pt x="7486457" y="0"/>
                </a:lnTo>
                <a:lnTo>
                  <a:pt x="10639698" y="0"/>
                </a:lnTo>
                <a:lnTo>
                  <a:pt x="10639698" y="6857554"/>
                </a:lnTo>
                <a:lnTo>
                  <a:pt x="7496924" y="6857554"/>
                </a:lnTo>
                <a:lnTo>
                  <a:pt x="7486457" y="6866632"/>
                </a:lnTo>
                <a:lnTo>
                  <a:pt x="1572046" y="6866632"/>
                </a:lnTo>
                <a:lnTo>
                  <a:pt x="1483885" y="6790170"/>
                </a:lnTo>
                <a:cubicBezTo>
                  <a:pt x="572304" y="5960601"/>
                  <a:pt x="0" y="4763877"/>
                  <a:pt x="0" y="3433316"/>
                </a:cubicBezTo>
                <a:cubicBezTo>
                  <a:pt x="0" y="2102756"/>
                  <a:pt x="572304" y="906032"/>
                  <a:pt x="1483885" y="76463"/>
                </a:cubicBezTo>
                <a:close/>
              </a:path>
            </a:pathLst>
          </a:custGeom>
          <a:solidFill>
            <a:srgbClr val="1D4C7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黑体简体" panose="02010601030101010101" pitchFamily="2" charset="-122"/>
            </a:endParaRPr>
          </a:p>
        </p:txBody>
      </p:sp>
      <p:sp>
        <p:nvSpPr>
          <p:cNvPr id="39" name="任意多边形 38"/>
          <p:cNvSpPr/>
          <p:nvPr/>
        </p:nvSpPr>
        <p:spPr>
          <a:xfrm>
            <a:off x="1551509" y="-8632"/>
            <a:ext cx="10639698" cy="6866632"/>
          </a:xfrm>
          <a:custGeom>
            <a:avLst/>
            <a:gdLst>
              <a:gd name="connsiteX0" fmla="*/ 1572046 w 10639698"/>
              <a:gd name="connsiteY0" fmla="*/ 0 h 6866632"/>
              <a:gd name="connsiteX1" fmla="*/ 5264571 w 10639698"/>
              <a:gd name="connsiteY1" fmla="*/ 0 h 6866632"/>
              <a:gd name="connsiteX2" fmla="*/ 7486457 w 10639698"/>
              <a:gd name="connsiteY2" fmla="*/ 0 h 6866632"/>
              <a:gd name="connsiteX3" fmla="*/ 10639698 w 10639698"/>
              <a:gd name="connsiteY3" fmla="*/ 0 h 6866632"/>
              <a:gd name="connsiteX4" fmla="*/ 10639698 w 10639698"/>
              <a:gd name="connsiteY4" fmla="*/ 6857554 h 6866632"/>
              <a:gd name="connsiteX5" fmla="*/ 7496924 w 10639698"/>
              <a:gd name="connsiteY5" fmla="*/ 6857554 h 6866632"/>
              <a:gd name="connsiteX6" fmla="*/ 7486457 w 10639698"/>
              <a:gd name="connsiteY6" fmla="*/ 6866632 h 6866632"/>
              <a:gd name="connsiteX7" fmla="*/ 1572046 w 10639698"/>
              <a:gd name="connsiteY7" fmla="*/ 6866632 h 6866632"/>
              <a:gd name="connsiteX8" fmla="*/ 1483885 w 10639698"/>
              <a:gd name="connsiteY8" fmla="*/ 6790170 h 6866632"/>
              <a:gd name="connsiteX9" fmla="*/ 0 w 10639698"/>
              <a:gd name="connsiteY9" fmla="*/ 3433316 h 6866632"/>
              <a:gd name="connsiteX10" fmla="*/ 1483885 w 10639698"/>
              <a:gd name="connsiteY10" fmla="*/ 76463 h 686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39698" h="6866632">
                <a:moveTo>
                  <a:pt x="1572046" y="0"/>
                </a:moveTo>
                <a:lnTo>
                  <a:pt x="5264571" y="0"/>
                </a:lnTo>
                <a:lnTo>
                  <a:pt x="7486457" y="0"/>
                </a:lnTo>
                <a:lnTo>
                  <a:pt x="10639698" y="0"/>
                </a:lnTo>
                <a:lnTo>
                  <a:pt x="10639698" y="6857554"/>
                </a:lnTo>
                <a:lnTo>
                  <a:pt x="7496924" y="6857554"/>
                </a:lnTo>
                <a:lnTo>
                  <a:pt x="7486457" y="6866632"/>
                </a:lnTo>
                <a:lnTo>
                  <a:pt x="1572046" y="6866632"/>
                </a:lnTo>
                <a:lnTo>
                  <a:pt x="1483885" y="6790170"/>
                </a:lnTo>
                <a:cubicBezTo>
                  <a:pt x="572304" y="5960601"/>
                  <a:pt x="0" y="4763877"/>
                  <a:pt x="0" y="3433316"/>
                </a:cubicBezTo>
                <a:cubicBezTo>
                  <a:pt x="0" y="2102756"/>
                  <a:pt x="572304" y="906032"/>
                  <a:pt x="1483885" y="76463"/>
                </a:cubicBezTo>
                <a:close/>
              </a:path>
            </a:pathLst>
          </a:custGeom>
          <a:blipFill dpi="0" rotWithShape="1">
            <a:blip r:embed="rId3" cstate="screen">
              <a:duotone>
                <a:schemeClr val="accent5">
                  <a:shade val="45000"/>
                  <a:satMod val="135000"/>
                </a:schemeClr>
                <a:prstClr val="white"/>
              </a:duotone>
              <a:extLst>
                <a:ext uri="{28A0092B-C50C-407E-A947-70E740481C1C}">
                  <a14:useLocalDpi xmlns:a14="http://schemas.microsoft.com/office/drawing/2010/main"/>
                </a:ext>
              </a:extLst>
            </a:blip>
            <a:srcRect/>
            <a:stretch>
              <a:fillRect r="1"/>
            </a:stretch>
          </a:blipFill>
          <a:ln>
            <a:noFill/>
          </a:ln>
          <a:effectLst>
            <a:outerShdw blurRad="3683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黑体简体" panose="02010601030101010101" pitchFamily="2" charset="-122"/>
            </a:endParaRPr>
          </a:p>
        </p:txBody>
      </p:sp>
      <p:sp>
        <p:nvSpPr>
          <p:cNvPr id="27" name="矩形 26"/>
          <p:cNvSpPr/>
          <p:nvPr/>
        </p:nvSpPr>
        <p:spPr>
          <a:xfrm>
            <a:off x="3730202" y="1362282"/>
            <a:ext cx="4731596" cy="960320"/>
          </a:xfrm>
          <a:prstGeom prst="rect">
            <a:avLst/>
          </a:prstGeom>
          <a:solidFill>
            <a:schemeClr val="bg1"/>
          </a:solidFill>
          <a:ln>
            <a:noFill/>
          </a:ln>
          <a:effectLst>
            <a:outerShdw blurRad="635000" dist="190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p:nvGrpSpPr>
        <p:grpSpPr>
          <a:xfrm>
            <a:off x="3900880" y="1518894"/>
            <a:ext cx="3251404" cy="663726"/>
            <a:chOff x="5591150" y="1338211"/>
            <a:chExt cx="3251404" cy="663726"/>
          </a:xfrm>
        </p:grpSpPr>
        <p:sp>
          <p:nvSpPr>
            <p:cNvPr id="8" name="文本框 7"/>
            <p:cNvSpPr txBox="1"/>
            <p:nvPr/>
          </p:nvSpPr>
          <p:spPr>
            <a:xfrm>
              <a:off x="6503452" y="1450441"/>
              <a:ext cx="2339102"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chemeClr val="tx1">
                      <a:lumMod val="75000"/>
                      <a:lumOff val="25000"/>
                    </a:schemeClr>
                  </a:solidFill>
                  <a:ea typeface="方正黑体简体" panose="02010601030101010101" pitchFamily="2" charset="-122"/>
                </a:rPr>
                <a:t>项目时间管理</a:t>
              </a:r>
              <a:endParaRPr lang="zh-CN" altLang="en-US" i="1" dirty="0">
                <a:solidFill>
                  <a:schemeClr val="tx1">
                    <a:lumMod val="75000"/>
                    <a:lumOff val="25000"/>
                  </a:schemeClr>
                </a:solidFill>
                <a:ea typeface="方正黑体简体" panose="02010601030101010101" pitchFamily="2" charset="-122"/>
              </a:endParaRPr>
            </a:p>
          </p:txBody>
        </p:sp>
        <p:sp>
          <p:nvSpPr>
            <p:cNvPr id="41" name="椭圆 40"/>
            <p:cNvSpPr/>
            <p:nvPr/>
          </p:nvSpPr>
          <p:spPr>
            <a:xfrm>
              <a:off x="5591150" y="1338211"/>
              <a:ext cx="663726" cy="663726"/>
            </a:xfrm>
            <a:prstGeom prst="ellipse">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solidFill>
                    <a:srgbClr val="1D4C77"/>
                  </a:solidFill>
                  <a:latin typeface="Agency FB" panose="020B0503020202020204" pitchFamily="34" charset="0"/>
                  <a:ea typeface="方正黑体简体" panose="02010601030101010101" pitchFamily="2" charset="-122"/>
                </a:rPr>
                <a:t>01</a:t>
              </a:r>
              <a:endParaRPr lang="zh-CN" altLang="en-US" sz="2800" b="1" dirty="0">
                <a:solidFill>
                  <a:srgbClr val="1D4C77"/>
                </a:solidFill>
                <a:latin typeface="Agency FB" panose="020B0503020202020204" pitchFamily="34" charset="0"/>
                <a:ea typeface="方正黑体简体" panose="02010601030101010101" pitchFamily="2" charset="-122"/>
              </a:endParaRPr>
            </a:p>
          </p:txBody>
        </p:sp>
      </p:grpSp>
      <p:sp>
        <p:nvSpPr>
          <p:cNvPr id="31" name="矩形 30"/>
          <p:cNvSpPr/>
          <p:nvPr/>
        </p:nvSpPr>
        <p:spPr>
          <a:xfrm>
            <a:off x="3730202" y="2524770"/>
            <a:ext cx="4731596" cy="960320"/>
          </a:xfrm>
          <a:prstGeom prst="rect">
            <a:avLst/>
          </a:prstGeom>
          <a:solidFill>
            <a:schemeClr val="bg1"/>
          </a:solidFill>
          <a:ln>
            <a:noFill/>
          </a:ln>
          <a:effectLst>
            <a:outerShdw blurRad="635000" dist="190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3730202" y="3687258"/>
            <a:ext cx="4731596" cy="960320"/>
          </a:xfrm>
          <a:prstGeom prst="rect">
            <a:avLst/>
          </a:prstGeom>
          <a:solidFill>
            <a:schemeClr val="bg1"/>
          </a:solidFill>
          <a:ln>
            <a:noFill/>
          </a:ln>
          <a:effectLst>
            <a:outerShdw blurRad="635000" dist="190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730202" y="4849746"/>
            <a:ext cx="4731596" cy="960320"/>
          </a:xfrm>
          <a:prstGeom prst="rect">
            <a:avLst/>
          </a:prstGeom>
          <a:solidFill>
            <a:schemeClr val="bg1"/>
          </a:solidFill>
          <a:ln>
            <a:noFill/>
          </a:ln>
          <a:effectLst>
            <a:outerShdw blurRad="635000" dist="190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3900880" y="2681604"/>
            <a:ext cx="3290644" cy="663726"/>
            <a:chOff x="5591150" y="1338211"/>
            <a:chExt cx="3290644" cy="663726"/>
          </a:xfrm>
        </p:grpSpPr>
        <p:sp>
          <p:nvSpPr>
            <p:cNvPr id="64" name="文本框 63"/>
            <p:cNvSpPr txBox="1"/>
            <p:nvPr/>
          </p:nvSpPr>
          <p:spPr>
            <a:xfrm>
              <a:off x="6503451" y="1450219"/>
              <a:ext cx="2378343"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chemeClr val="tx1">
                      <a:lumMod val="75000"/>
                      <a:lumOff val="25000"/>
                    </a:schemeClr>
                  </a:solidFill>
                  <a:ea typeface="方正黑体简体" panose="02010601030101010101" pitchFamily="2" charset="-122"/>
                </a:rPr>
                <a:t>项目人力管理</a:t>
              </a:r>
              <a:endParaRPr lang="zh-CN" altLang="en-US" i="1" dirty="0">
                <a:solidFill>
                  <a:schemeClr val="tx1">
                    <a:lumMod val="75000"/>
                    <a:lumOff val="25000"/>
                  </a:schemeClr>
                </a:solidFill>
                <a:ea typeface="方正黑体简体" panose="02010601030101010101" pitchFamily="2" charset="-122"/>
              </a:endParaRPr>
            </a:p>
          </p:txBody>
        </p:sp>
        <p:sp>
          <p:nvSpPr>
            <p:cNvPr id="38" name="椭圆 37"/>
            <p:cNvSpPr/>
            <p:nvPr/>
          </p:nvSpPr>
          <p:spPr>
            <a:xfrm>
              <a:off x="5591150" y="1338211"/>
              <a:ext cx="663726" cy="663726"/>
            </a:xfrm>
            <a:prstGeom prst="ellipse">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solidFill>
                    <a:srgbClr val="1D4C77"/>
                  </a:solidFill>
                  <a:latin typeface="Agency FB" panose="020B0503020202020204" pitchFamily="34" charset="0"/>
                  <a:ea typeface="方正黑体简体" panose="02010601030101010101" pitchFamily="2" charset="-122"/>
                </a:rPr>
                <a:t>02</a:t>
              </a:r>
              <a:endParaRPr lang="zh-CN" altLang="en-US" sz="2800" b="1" dirty="0">
                <a:solidFill>
                  <a:srgbClr val="1D4C77"/>
                </a:solidFill>
                <a:latin typeface="Agency FB" panose="020B0503020202020204" pitchFamily="34" charset="0"/>
                <a:ea typeface="方正黑体简体" panose="02010601030101010101" pitchFamily="2" charset="-122"/>
              </a:endParaRPr>
            </a:p>
          </p:txBody>
        </p:sp>
      </p:grpSp>
      <p:grpSp>
        <p:nvGrpSpPr>
          <p:cNvPr id="65" name="组合 64"/>
          <p:cNvGrpSpPr/>
          <p:nvPr/>
        </p:nvGrpSpPr>
        <p:grpSpPr>
          <a:xfrm>
            <a:off x="3900880" y="3844314"/>
            <a:ext cx="3300978" cy="663726"/>
            <a:chOff x="5591150" y="1338211"/>
            <a:chExt cx="3300978" cy="663726"/>
          </a:xfrm>
        </p:grpSpPr>
        <p:sp>
          <p:nvSpPr>
            <p:cNvPr id="69" name="文本框 68"/>
            <p:cNvSpPr txBox="1"/>
            <p:nvPr/>
          </p:nvSpPr>
          <p:spPr>
            <a:xfrm>
              <a:off x="6511668" y="1452357"/>
              <a:ext cx="2380460"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chemeClr val="tx1">
                      <a:lumMod val="75000"/>
                      <a:lumOff val="25000"/>
                    </a:schemeClr>
                  </a:solidFill>
                  <a:ea typeface="方正黑体简体" panose="02010601030101010101" pitchFamily="2" charset="-122"/>
                </a:rPr>
                <a:t>项目沟通管理</a:t>
              </a:r>
              <a:endParaRPr lang="zh-CN" altLang="en-US" i="1" dirty="0">
                <a:solidFill>
                  <a:schemeClr val="tx1">
                    <a:lumMod val="75000"/>
                    <a:lumOff val="25000"/>
                  </a:schemeClr>
                </a:solidFill>
                <a:ea typeface="方正黑体简体" panose="02010601030101010101" pitchFamily="2" charset="-122"/>
              </a:endParaRPr>
            </a:p>
          </p:txBody>
        </p:sp>
        <p:sp>
          <p:nvSpPr>
            <p:cNvPr id="67" name="椭圆 66"/>
            <p:cNvSpPr/>
            <p:nvPr/>
          </p:nvSpPr>
          <p:spPr>
            <a:xfrm>
              <a:off x="5591150" y="1338211"/>
              <a:ext cx="663726" cy="663726"/>
            </a:xfrm>
            <a:prstGeom prst="ellipse">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solidFill>
                    <a:srgbClr val="1D4C77"/>
                  </a:solidFill>
                  <a:latin typeface="Agency FB" panose="020B0503020202020204" pitchFamily="34" charset="0"/>
                  <a:ea typeface="方正黑体简体" panose="02010601030101010101" pitchFamily="2" charset="-122"/>
                </a:rPr>
                <a:t>03</a:t>
              </a:r>
              <a:endParaRPr lang="zh-CN" altLang="en-US" sz="2800" b="1" dirty="0">
                <a:solidFill>
                  <a:srgbClr val="1D4C77"/>
                </a:solidFill>
                <a:latin typeface="Agency FB" panose="020B0503020202020204" pitchFamily="34" charset="0"/>
                <a:ea typeface="方正黑体简体" panose="02010601030101010101" pitchFamily="2" charset="-122"/>
              </a:endParaRPr>
            </a:p>
          </p:txBody>
        </p:sp>
      </p:grpSp>
      <p:grpSp>
        <p:nvGrpSpPr>
          <p:cNvPr id="70" name="组合 69"/>
          <p:cNvGrpSpPr/>
          <p:nvPr/>
        </p:nvGrpSpPr>
        <p:grpSpPr>
          <a:xfrm>
            <a:off x="3900880" y="5007024"/>
            <a:ext cx="3251403" cy="663726"/>
            <a:chOff x="5591150" y="1338211"/>
            <a:chExt cx="3251403" cy="663726"/>
          </a:xfrm>
        </p:grpSpPr>
        <p:sp>
          <p:nvSpPr>
            <p:cNvPr id="74" name="文本框 73"/>
            <p:cNvSpPr txBox="1"/>
            <p:nvPr/>
          </p:nvSpPr>
          <p:spPr>
            <a:xfrm>
              <a:off x="6503451" y="1399483"/>
              <a:ext cx="2339102"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chemeClr val="tx1">
                      <a:lumMod val="75000"/>
                      <a:lumOff val="25000"/>
                    </a:schemeClr>
                  </a:solidFill>
                  <a:ea typeface="方正黑体简体" panose="02010601030101010101" pitchFamily="2" charset="-122"/>
                </a:rPr>
                <a:t>项目范围管理</a:t>
              </a:r>
              <a:endParaRPr lang="zh-CN" altLang="en-US" i="1" dirty="0">
                <a:solidFill>
                  <a:schemeClr val="tx1">
                    <a:lumMod val="75000"/>
                    <a:lumOff val="25000"/>
                  </a:schemeClr>
                </a:solidFill>
                <a:ea typeface="方正黑体简体" panose="02010601030101010101" pitchFamily="2" charset="-122"/>
              </a:endParaRPr>
            </a:p>
          </p:txBody>
        </p:sp>
        <p:sp>
          <p:nvSpPr>
            <p:cNvPr id="72" name="椭圆 71"/>
            <p:cNvSpPr/>
            <p:nvPr/>
          </p:nvSpPr>
          <p:spPr>
            <a:xfrm>
              <a:off x="5591150" y="1338211"/>
              <a:ext cx="663726" cy="663726"/>
            </a:xfrm>
            <a:prstGeom prst="ellipse">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800" b="1" dirty="0">
                  <a:solidFill>
                    <a:srgbClr val="1D4C77"/>
                  </a:solidFill>
                  <a:latin typeface="Agency FB" panose="020B0503020202020204" pitchFamily="34" charset="0"/>
                  <a:ea typeface="方正黑体简体" panose="02010601030101010101" pitchFamily="2" charset="-122"/>
                </a:rPr>
                <a:t>04</a:t>
              </a:r>
              <a:endParaRPr lang="zh-CN" altLang="en-US" sz="2800" b="1" dirty="0">
                <a:solidFill>
                  <a:srgbClr val="1D4C77"/>
                </a:solidFill>
                <a:latin typeface="Agency FB" panose="020B0503020202020204" pitchFamily="34" charset="0"/>
                <a:ea typeface="方正黑体简体" panose="02010601030101010101" pitchFamily="2" charset="-122"/>
              </a:endParaRPr>
            </a:p>
          </p:txBody>
        </p:sp>
      </p:grpSp>
    </p:spTree>
    <p:extLst>
      <p:ext uri="{BB962C8B-B14F-4D97-AF65-F5344CB8AC3E}">
        <p14:creationId xmlns:p14="http://schemas.microsoft.com/office/powerpoint/2010/main" val="34457923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01</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4467890"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项目时间管理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存在的问题</a:t>
            </a:r>
          </a:p>
        </p:txBody>
      </p:sp>
      <p:sp>
        <p:nvSpPr>
          <p:cNvPr id="43" name="文本框 42">
            <a:extLst>
              <a:ext uri="{FF2B5EF4-FFF2-40B4-BE49-F238E27FC236}">
                <a16:creationId xmlns:a16="http://schemas.microsoft.com/office/drawing/2014/main" id="{479BA0C4-688B-4EAE-B004-7B6DB7561D20}"/>
              </a:ext>
            </a:extLst>
          </p:cNvPr>
          <p:cNvSpPr txBox="1"/>
          <p:nvPr/>
        </p:nvSpPr>
        <p:spPr>
          <a:xfrm>
            <a:off x="6796602" y="3429000"/>
            <a:ext cx="5438773" cy="1253677"/>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进度控制表参考基准选取不合理</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项目预估无余量</a:t>
            </a:r>
          </a:p>
        </p:txBody>
      </p:sp>
      <p:pic>
        <p:nvPicPr>
          <p:cNvPr id="5" name="图片 4">
            <a:extLst>
              <a:ext uri="{FF2B5EF4-FFF2-40B4-BE49-F238E27FC236}">
                <a16:creationId xmlns:a16="http://schemas.microsoft.com/office/drawing/2014/main" id="{802A7611-82AD-46C3-97ED-B54D51ABEE5C}"/>
              </a:ext>
            </a:extLst>
          </p:cNvPr>
          <p:cNvPicPr>
            <a:picLocks noChangeAspect="1"/>
          </p:cNvPicPr>
          <p:nvPr/>
        </p:nvPicPr>
        <p:blipFill>
          <a:blip r:embed="rId4"/>
          <a:stretch>
            <a:fillRect/>
          </a:stretch>
        </p:blipFill>
        <p:spPr>
          <a:xfrm>
            <a:off x="693074" y="2430170"/>
            <a:ext cx="4282288" cy="4054727"/>
          </a:xfrm>
          <a:prstGeom prst="rect">
            <a:avLst/>
          </a:prstGeom>
        </p:spPr>
      </p:pic>
    </p:spTree>
    <p:extLst>
      <p:ext uri="{BB962C8B-B14F-4D97-AF65-F5344CB8AC3E}">
        <p14:creationId xmlns:p14="http://schemas.microsoft.com/office/powerpoint/2010/main" val="389737710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5505276" y="2950873"/>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935415" y="1637684"/>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01</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6263253"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项目时间管理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使用的理论和解决对策</a:t>
            </a:r>
          </a:p>
        </p:txBody>
      </p:sp>
      <p:sp>
        <p:nvSpPr>
          <p:cNvPr id="43" name="TextBox 7">
            <a:extLst>
              <a:ext uri="{FF2B5EF4-FFF2-40B4-BE49-F238E27FC236}">
                <a16:creationId xmlns:a16="http://schemas.microsoft.com/office/drawing/2014/main" id="{A75FDAEF-A344-47E2-B236-6D9EDD499381}"/>
              </a:ext>
            </a:extLst>
          </p:cNvPr>
          <p:cNvSpPr txBox="1"/>
          <p:nvPr/>
        </p:nvSpPr>
        <p:spPr>
          <a:xfrm>
            <a:off x="464151" y="1671271"/>
            <a:ext cx="3124921" cy="597921"/>
          </a:xfrm>
          <a:prstGeom prst="rect">
            <a:avLst/>
          </a:prstGeom>
          <a:noFill/>
        </p:spPr>
        <p:txBody>
          <a:bodyPr wrap="square" rtlCol="0">
            <a:spAutoFit/>
          </a:bodyPr>
          <a:lstStyle/>
          <a:p>
            <a:pPr>
              <a:lnSpc>
                <a:spcPct val="130000"/>
              </a:lnSpc>
            </a:pPr>
            <a:r>
              <a:rPr lang="zh-CN" altLang="en-US" sz="2800" dirty="0">
                <a:solidFill>
                  <a:srgbClr val="4F4D50"/>
                </a:solidFill>
                <a:latin typeface="方正黑体简体" panose="02010601030101010101" pitchFamily="2" charset="-122"/>
                <a:ea typeface="方正黑体简体" panose="02010601030101010101" pitchFamily="2" charset="-122"/>
                <a:cs typeface="+mn-ea"/>
                <a:sym typeface="+mn-lt"/>
              </a:rPr>
              <a:t>关键链技术理论</a:t>
            </a:r>
            <a:endParaRPr lang="en-US" altLang="zh-CN" sz="2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44" name="文本框 43">
            <a:extLst>
              <a:ext uri="{FF2B5EF4-FFF2-40B4-BE49-F238E27FC236}">
                <a16:creationId xmlns:a16="http://schemas.microsoft.com/office/drawing/2014/main" id="{44A25BE0-2B5E-4895-B059-1C16DE0A131B}"/>
              </a:ext>
            </a:extLst>
          </p:cNvPr>
          <p:cNvSpPr txBox="1"/>
          <p:nvPr/>
        </p:nvSpPr>
        <p:spPr>
          <a:xfrm>
            <a:off x="403518" y="2419155"/>
            <a:ext cx="4503118" cy="4434034"/>
          </a:xfrm>
          <a:prstGeom prst="rect">
            <a:avLst/>
          </a:prstGeom>
          <a:noFill/>
        </p:spPr>
        <p:txBody>
          <a:bodyPr wrap="square" rtlCol="0">
            <a:spAutoFit/>
          </a:bodyPr>
          <a:lstStyle/>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主要目的：</a:t>
            </a:r>
            <a:r>
              <a:rPr lang="zh-CN" altLang="en-US" sz="1600" b="1" dirty="0">
                <a:solidFill>
                  <a:srgbClr val="686769"/>
                </a:solidFill>
                <a:latin typeface="方正黑体简体" panose="02010601030101010101" pitchFamily="2" charset="-122"/>
                <a:ea typeface="方正黑体简体" panose="02010601030101010101" pitchFamily="2" charset="-122"/>
                <a:cs typeface="+mn-ea"/>
                <a:sym typeface="+mn-lt"/>
              </a:rPr>
              <a:t>利用有限资源调整项目</a:t>
            </a:r>
          </a:p>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在关键路线法的基础上引入了</a:t>
            </a:r>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TOC</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制约法思想（找到制约项目的因素）</a:t>
            </a:r>
            <a:endPar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对任何可能性办法进行分析整合，进行时间预估，</a:t>
            </a:r>
            <a:r>
              <a:rPr lang="zh-CN" altLang="en-US" sz="1600" b="1" dirty="0">
                <a:solidFill>
                  <a:srgbClr val="686769"/>
                </a:solidFill>
                <a:latin typeface="方正黑体简体" panose="02010601030101010101" pitchFamily="2" charset="-122"/>
                <a:ea typeface="方正黑体简体" panose="02010601030101010101" pitchFamily="2" charset="-122"/>
                <a:cs typeface="+mn-ea"/>
                <a:sym typeface="+mn-lt"/>
              </a:rPr>
              <a:t>产出项目进度 网络图和关键路径长度</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。根据关键路径和资源情况，尽量精确分配资源</a:t>
            </a:r>
            <a:endPar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为应对不确定性，在网络图中还可以</a:t>
            </a:r>
            <a:r>
              <a:rPr lang="zh-CN" altLang="en-US" sz="1600" b="1" dirty="0">
                <a:solidFill>
                  <a:srgbClr val="686769"/>
                </a:solidFill>
                <a:latin typeface="方正黑体简体" panose="02010601030101010101" pitchFamily="2" charset="-122"/>
                <a:ea typeface="方正黑体简体" panose="02010601030101010101" pitchFamily="2" charset="-122"/>
                <a:cs typeface="+mn-ea"/>
                <a:sym typeface="+mn-lt"/>
              </a:rPr>
              <a:t>增加工作以外的持续时间来作为余量，解决突发问题</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。作为进度网络分析技术，关键链法结合确定性与随机性办法，根据有限资源对项目进度表进行调整，常改变关键路径。</a:t>
            </a:r>
          </a:p>
          <a:p>
            <a:pPr algn="just">
              <a:lnSpc>
                <a:spcPct val="130000"/>
              </a:lnSpc>
            </a:pPr>
            <a:endParaRPr lang="zh-CN" altLang="en-US" sz="1000" dirty="0">
              <a:solidFill>
                <a:srgbClr val="686769"/>
              </a:solidFill>
              <a:latin typeface="方正黑体简体" panose="02010601030101010101" pitchFamily="2" charset="-122"/>
              <a:ea typeface="方正黑体简体" panose="02010601030101010101" pitchFamily="2" charset="-122"/>
              <a:cs typeface="+mn-ea"/>
              <a:sym typeface="+mn-lt"/>
            </a:endParaRPr>
          </a:p>
        </p:txBody>
      </p:sp>
      <p:sp>
        <p:nvSpPr>
          <p:cNvPr id="46" name="文本框 45">
            <a:extLst>
              <a:ext uri="{FF2B5EF4-FFF2-40B4-BE49-F238E27FC236}">
                <a16:creationId xmlns:a16="http://schemas.microsoft.com/office/drawing/2014/main" id="{982177E9-E76E-4A33-B262-95B6E18EDF55}"/>
              </a:ext>
            </a:extLst>
          </p:cNvPr>
          <p:cNvSpPr txBox="1"/>
          <p:nvPr/>
        </p:nvSpPr>
        <p:spPr>
          <a:xfrm>
            <a:off x="6573671" y="3257611"/>
            <a:ext cx="4796418" cy="525657"/>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en-US" altLang="zh-CN" sz="24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采用网络图跟踪项目进度</a:t>
            </a:r>
          </a:p>
        </p:txBody>
      </p:sp>
      <p:sp>
        <p:nvSpPr>
          <p:cNvPr id="5" name="矩形 4">
            <a:extLst>
              <a:ext uri="{FF2B5EF4-FFF2-40B4-BE49-F238E27FC236}">
                <a16:creationId xmlns:a16="http://schemas.microsoft.com/office/drawing/2014/main" id="{8209F4C8-39C5-448A-A3B7-76A5D07FECA4}"/>
              </a:ext>
            </a:extLst>
          </p:cNvPr>
          <p:cNvSpPr/>
          <p:nvPr/>
        </p:nvSpPr>
        <p:spPr>
          <a:xfrm>
            <a:off x="6573671" y="4110515"/>
            <a:ext cx="5486241" cy="525657"/>
          </a:xfrm>
          <a:prstGeom prst="rect">
            <a:avLst/>
          </a:prstGeom>
        </p:spPr>
        <p:txBody>
          <a:bodyPr wrap="square">
            <a:spAutoFit/>
          </a:bodyPr>
          <a:lstStyle/>
          <a:p>
            <a:pPr marL="171450" indent="-171450" algn="just">
              <a:lnSpc>
                <a:spcPct val="130000"/>
              </a:lnSpc>
              <a:buFont typeface="Wingdings" panose="05000000000000000000" pitchFamily="2" charset="2"/>
              <a:buChar char="Ø"/>
            </a:pPr>
            <a:r>
              <a:rPr lang="zh-CN" altLang="en-US" sz="24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及时处理项目偏差保证进度正常</a:t>
            </a:r>
          </a:p>
        </p:txBody>
      </p:sp>
    </p:spTree>
    <p:extLst>
      <p:ext uri="{BB962C8B-B14F-4D97-AF65-F5344CB8AC3E}">
        <p14:creationId xmlns:p14="http://schemas.microsoft.com/office/powerpoint/2010/main" val="334086157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01</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3749744"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项目时间管理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网络图</a:t>
            </a:r>
          </a:p>
        </p:txBody>
      </p:sp>
      <p:pic>
        <p:nvPicPr>
          <p:cNvPr id="13" name="图形 12">
            <a:extLst>
              <a:ext uri="{FF2B5EF4-FFF2-40B4-BE49-F238E27FC236}">
                <a16:creationId xmlns:a16="http://schemas.microsoft.com/office/drawing/2014/main" id="{778E4EB1-B4B4-48F2-B114-C08C349D65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3710" y="1879600"/>
            <a:ext cx="10807377" cy="4216400"/>
          </a:xfrm>
          <a:prstGeom prst="rect">
            <a:avLst/>
          </a:prstGeom>
        </p:spPr>
      </p:pic>
    </p:spTree>
    <p:extLst>
      <p:ext uri="{BB962C8B-B14F-4D97-AF65-F5344CB8AC3E}">
        <p14:creationId xmlns:p14="http://schemas.microsoft.com/office/powerpoint/2010/main" val="310993809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503E0C68-DA60-417A-94AF-3E2A39D1D51A}"/>
              </a:ext>
            </a:extLst>
          </p:cNvPr>
          <p:cNvSpPr txBox="1"/>
          <p:nvPr/>
        </p:nvSpPr>
        <p:spPr>
          <a:xfrm>
            <a:off x="7203169" y="3163762"/>
            <a:ext cx="5980951" cy="1653786"/>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未进行彻底详细的工作分解结构</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（任务未落实到个人）</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人力管理系统存在很大的问题</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p:txBody>
      </p: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02</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4467890"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项目人力管理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存在的问题</a:t>
            </a:r>
          </a:p>
        </p:txBody>
      </p:sp>
      <p:pic>
        <p:nvPicPr>
          <p:cNvPr id="5" name="图片 4">
            <a:extLst>
              <a:ext uri="{FF2B5EF4-FFF2-40B4-BE49-F238E27FC236}">
                <a16:creationId xmlns:a16="http://schemas.microsoft.com/office/drawing/2014/main" id="{336C01B5-6661-4F09-A3E9-6EB372D58B2C}"/>
              </a:ext>
            </a:extLst>
          </p:cNvPr>
          <p:cNvPicPr>
            <a:picLocks noChangeAspect="1"/>
          </p:cNvPicPr>
          <p:nvPr/>
        </p:nvPicPr>
        <p:blipFill>
          <a:blip r:embed="rId4"/>
          <a:stretch>
            <a:fillRect/>
          </a:stretch>
        </p:blipFill>
        <p:spPr>
          <a:xfrm>
            <a:off x="959979" y="2173448"/>
            <a:ext cx="4003487" cy="3861591"/>
          </a:xfrm>
          <a:prstGeom prst="rect">
            <a:avLst/>
          </a:prstGeom>
        </p:spPr>
      </p:pic>
    </p:spTree>
    <p:extLst>
      <p:ext uri="{BB962C8B-B14F-4D97-AF65-F5344CB8AC3E}">
        <p14:creationId xmlns:p14="http://schemas.microsoft.com/office/powerpoint/2010/main" val="266829025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14:presetBounceEnd="40000">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14:bounceEnd="40000">
                                          <p:cBhvr additive="base">
                                            <p:cTn id="7" dur="750" fill="hold"/>
                                            <p:tgtEl>
                                              <p:spTgt spid="39"/>
                                            </p:tgtEl>
                                            <p:attrNameLst>
                                              <p:attrName>ppt_x</p:attrName>
                                            </p:attrNameLst>
                                          </p:cBhvr>
                                          <p:tavLst>
                                            <p:tav tm="0">
                                              <p:val>
                                                <p:strVal val="1+#ppt_w/2"/>
                                              </p:val>
                                            </p:tav>
                                            <p:tav tm="100000">
                                              <p:val>
                                                <p:strVal val="#ppt_x"/>
                                              </p:val>
                                            </p:tav>
                                          </p:tavLst>
                                        </p:anim>
                                        <p:anim calcmode="lin" valueType="num" p14:bounceEnd="40000">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750" fill="hold"/>
                                            <p:tgtEl>
                                              <p:spTgt spid="39"/>
                                            </p:tgtEl>
                                            <p:attrNameLst>
                                              <p:attrName>ppt_x</p:attrName>
                                            </p:attrNameLst>
                                          </p:cBhvr>
                                          <p:tavLst>
                                            <p:tav tm="0">
                                              <p:val>
                                                <p:strVal val="1+#ppt_w/2"/>
                                              </p:val>
                                            </p:tav>
                                            <p:tav tm="100000">
                                              <p:val>
                                                <p:strVal val="#ppt_x"/>
                                              </p:val>
                                            </p:tav>
                                          </p:tavLst>
                                        </p:anim>
                                        <p:anim calcmode="lin" valueType="num">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5099303" y="2810793"/>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7">
            <a:extLst>
              <a:ext uri="{FF2B5EF4-FFF2-40B4-BE49-F238E27FC236}">
                <a16:creationId xmlns:a16="http://schemas.microsoft.com/office/drawing/2014/main" id="{8DE6CD62-A5CF-42EF-B6BB-0447C20B7252}"/>
              </a:ext>
            </a:extLst>
          </p:cNvPr>
          <p:cNvSpPr txBox="1"/>
          <p:nvPr/>
        </p:nvSpPr>
        <p:spPr>
          <a:xfrm>
            <a:off x="359524" y="2031515"/>
            <a:ext cx="5006127" cy="597921"/>
          </a:xfrm>
          <a:prstGeom prst="rect">
            <a:avLst/>
          </a:prstGeom>
          <a:noFill/>
        </p:spPr>
        <p:txBody>
          <a:bodyPr wrap="square" rtlCol="0">
            <a:spAutoFit/>
          </a:bodyPr>
          <a:lstStyle/>
          <a:p>
            <a:pPr>
              <a:lnSpc>
                <a:spcPct val="130000"/>
              </a:lnSpc>
            </a:pPr>
            <a:r>
              <a:rPr lang="zh-CN" altLang="en-US" sz="2800" dirty="0">
                <a:solidFill>
                  <a:srgbClr val="4F4D50"/>
                </a:solidFill>
                <a:latin typeface="方正黑体简体" panose="02010601030101010101" pitchFamily="2" charset="-122"/>
                <a:ea typeface="方正黑体简体" panose="02010601030101010101" pitchFamily="2" charset="-122"/>
                <a:cs typeface="+mn-ea"/>
                <a:sym typeface="+mn-lt"/>
              </a:rPr>
              <a:t>工作分解结构 </a:t>
            </a:r>
            <a:r>
              <a:rPr lang="en-US" altLang="zh-CN" sz="2800" dirty="0">
                <a:solidFill>
                  <a:srgbClr val="4F4D50"/>
                </a:solidFill>
                <a:latin typeface="方正黑体简体" panose="02010601030101010101" pitchFamily="2" charset="-122"/>
                <a:ea typeface="方正黑体简体" panose="02010601030101010101" pitchFamily="2" charset="-122"/>
                <a:cs typeface="+mn-ea"/>
                <a:sym typeface="+mn-lt"/>
              </a:rPr>
              <a:t>WBS </a:t>
            </a:r>
            <a:r>
              <a:rPr lang="zh-CN" altLang="en-US" sz="2800" dirty="0">
                <a:solidFill>
                  <a:srgbClr val="4F4D50"/>
                </a:solidFill>
                <a:latin typeface="方正黑体简体" panose="02010601030101010101" pitchFamily="2" charset="-122"/>
                <a:ea typeface="方正黑体简体" panose="02010601030101010101" pitchFamily="2" charset="-122"/>
                <a:cs typeface="+mn-ea"/>
                <a:sym typeface="+mn-lt"/>
              </a:rPr>
              <a:t>理论 </a:t>
            </a:r>
            <a:endParaRPr lang="en-US" altLang="zh-CN" sz="2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7" name="文本框 6">
            <a:extLst>
              <a:ext uri="{FF2B5EF4-FFF2-40B4-BE49-F238E27FC236}">
                <a16:creationId xmlns:a16="http://schemas.microsoft.com/office/drawing/2014/main" id="{503E0C68-DA60-417A-94AF-3E2A39D1D51A}"/>
              </a:ext>
            </a:extLst>
          </p:cNvPr>
          <p:cNvSpPr txBox="1"/>
          <p:nvPr/>
        </p:nvSpPr>
        <p:spPr>
          <a:xfrm>
            <a:off x="399174" y="3311771"/>
            <a:ext cx="3715626" cy="3673826"/>
          </a:xfrm>
          <a:prstGeom prst="rect">
            <a:avLst/>
          </a:prstGeom>
          <a:noFill/>
        </p:spPr>
        <p:txBody>
          <a:bodyPr wrap="square" rtlCol="0">
            <a:spAutoFit/>
          </a:bodyPr>
          <a:lstStyle/>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工作分解结构（简称</a:t>
            </a:r>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WBS</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）是把一个项目整体按一定的原则分解成一个团队能够独立完成的工作包，把项目分解成任务包，任务再分解成子任务，再把</a:t>
            </a:r>
            <a:r>
              <a:rPr lang="zh-CN" altLang="en-US" sz="1600" b="1" dirty="0">
                <a:solidFill>
                  <a:srgbClr val="686769"/>
                </a:solidFill>
                <a:latin typeface="方正黑体简体" panose="02010601030101010101" pitchFamily="2" charset="-122"/>
                <a:ea typeface="方正黑体简体" panose="02010601030101010101" pitchFamily="2" charset="-122"/>
                <a:cs typeface="+mn-ea"/>
                <a:sym typeface="+mn-lt"/>
              </a:rPr>
              <a:t>每一项子任务分配到每个团队或每个人的日常工作活动中</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 由此可以利用</a:t>
            </a:r>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WBS</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做好工作划分和责任分派；工作内容和工作顺序可以在</a:t>
            </a:r>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WBS</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的控制下明确下来；通过</a:t>
            </a:r>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WBS</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整体掌控预估项目全过程的费用，并进行相应管理和控制。</a:t>
            </a:r>
          </a:p>
          <a:p>
            <a:pPr algn="just">
              <a:lnSpc>
                <a:spcPct val="130000"/>
              </a:lnSpc>
            </a:pPr>
            <a:endParaRPr lang="zh-CN" altLang="en-US" sz="10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zh-CN" altLang="en-US" sz="1000" dirty="0">
              <a:solidFill>
                <a:srgbClr val="686769"/>
              </a:solidFill>
              <a:latin typeface="方正黑体简体" panose="02010601030101010101" pitchFamily="2" charset="-122"/>
              <a:ea typeface="方正黑体简体" panose="02010601030101010101" pitchFamily="2" charset="-122"/>
              <a:cs typeface="+mn-ea"/>
              <a:sym typeface="+mn-lt"/>
            </a:endParaRPr>
          </a:p>
        </p:txBody>
      </p:sp>
      <p:grpSp>
        <p:nvGrpSpPr>
          <p:cNvPr id="4" name="组合 3"/>
          <p:cNvGrpSpPr/>
          <p:nvPr/>
        </p:nvGrpSpPr>
        <p:grpSpPr>
          <a:xfrm>
            <a:off x="4519011" y="1497604"/>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02</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6454011"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项目人力管理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使用的理论和解决对策</a:t>
            </a:r>
          </a:p>
        </p:txBody>
      </p:sp>
      <p:sp>
        <p:nvSpPr>
          <p:cNvPr id="5" name="矩形 4">
            <a:extLst>
              <a:ext uri="{FF2B5EF4-FFF2-40B4-BE49-F238E27FC236}">
                <a16:creationId xmlns:a16="http://schemas.microsoft.com/office/drawing/2014/main" id="{3E83AF6D-618E-42CC-A5DE-6B816B4C37CA}"/>
              </a:ext>
            </a:extLst>
          </p:cNvPr>
          <p:cNvSpPr/>
          <p:nvPr/>
        </p:nvSpPr>
        <p:spPr>
          <a:xfrm>
            <a:off x="6512406" y="2631406"/>
            <a:ext cx="4207208" cy="458715"/>
          </a:xfrm>
          <a:prstGeom prst="rect">
            <a:avLst/>
          </a:prstGeom>
        </p:spPr>
        <p:txBody>
          <a:bodyPr wrap="square">
            <a:spAutoFit/>
          </a:bodyPr>
          <a:lstStyle/>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制定详细的工作分解结构</a:t>
            </a:r>
            <a:endParaRPr lang="zh-CN" altLang="en-US" sz="2000" dirty="0"/>
          </a:p>
        </p:txBody>
      </p:sp>
      <p:sp>
        <p:nvSpPr>
          <p:cNvPr id="14" name="矩形 13">
            <a:extLst>
              <a:ext uri="{FF2B5EF4-FFF2-40B4-BE49-F238E27FC236}">
                <a16:creationId xmlns:a16="http://schemas.microsoft.com/office/drawing/2014/main" id="{AE720E6B-C4DC-4137-A01B-1249D9E3B09C}"/>
              </a:ext>
            </a:extLst>
          </p:cNvPr>
          <p:cNvSpPr/>
          <p:nvPr/>
        </p:nvSpPr>
        <p:spPr>
          <a:xfrm>
            <a:off x="399174" y="2860763"/>
            <a:ext cx="3116559" cy="338554"/>
          </a:xfrm>
          <a:prstGeom prst="rect">
            <a:avLst/>
          </a:prstGeom>
        </p:spPr>
        <p:txBody>
          <a:bodyPr wrap="none">
            <a:spAutoFit/>
          </a:bodyPr>
          <a:lstStyle/>
          <a:p>
            <a:r>
              <a:rPr lang="zh-CN" altLang="zh-CN" sz="1600" b="1" dirty="0">
                <a:solidFill>
                  <a:srgbClr val="686769"/>
                </a:solidFill>
                <a:ea typeface="方正黑体简体" panose="02010601030101010101" pitchFamily="2" charset="-122"/>
                <a:cs typeface="+mn-ea"/>
              </a:rPr>
              <a:t>项目</a:t>
            </a:r>
            <a:r>
              <a:rPr lang="en-US" altLang="zh-CN" sz="1600" b="1" dirty="0">
                <a:solidFill>
                  <a:srgbClr val="686769"/>
                </a:solidFill>
                <a:ea typeface="方正黑体简体" panose="02010601030101010101" pitchFamily="2" charset="-122"/>
                <a:cs typeface="+mn-ea"/>
              </a:rPr>
              <a:t> </a:t>
            </a:r>
            <a:r>
              <a:rPr lang="en-US" altLang="zh-CN" sz="1600" b="1" dirty="0">
                <a:solidFill>
                  <a:srgbClr val="686769"/>
                </a:solidFill>
                <a:ea typeface="方正黑体简体" panose="02010601030101010101" pitchFamily="2" charset="-122"/>
                <a:cs typeface="+mn-ea"/>
                <a:sym typeface="Wingdings" panose="05000000000000000000" pitchFamily="2" charset="2"/>
              </a:rPr>
              <a:t> </a:t>
            </a:r>
            <a:r>
              <a:rPr lang="zh-CN" altLang="zh-CN" sz="1600" b="1" dirty="0">
                <a:solidFill>
                  <a:srgbClr val="686769"/>
                </a:solidFill>
                <a:ea typeface="方正黑体简体" panose="02010601030101010101" pitchFamily="2" charset="-122"/>
                <a:cs typeface="+mn-ea"/>
              </a:rPr>
              <a:t>任务</a:t>
            </a:r>
            <a:r>
              <a:rPr lang="en-US" altLang="zh-CN" sz="1600" b="1" dirty="0">
                <a:solidFill>
                  <a:srgbClr val="686769"/>
                </a:solidFill>
                <a:ea typeface="方正黑体简体" panose="02010601030101010101" pitchFamily="2" charset="-122"/>
                <a:cs typeface="+mn-ea"/>
              </a:rPr>
              <a:t> </a:t>
            </a:r>
            <a:r>
              <a:rPr lang="en-US" altLang="zh-CN" sz="1600" b="1" dirty="0">
                <a:solidFill>
                  <a:srgbClr val="686769"/>
                </a:solidFill>
                <a:ea typeface="方正黑体简体" panose="02010601030101010101" pitchFamily="2" charset="-122"/>
                <a:cs typeface="+mn-ea"/>
                <a:sym typeface="Wingdings" panose="05000000000000000000" pitchFamily="2" charset="2"/>
              </a:rPr>
              <a:t> </a:t>
            </a:r>
            <a:r>
              <a:rPr lang="zh-CN" altLang="zh-CN" sz="1600" b="1" dirty="0">
                <a:solidFill>
                  <a:srgbClr val="686769"/>
                </a:solidFill>
                <a:ea typeface="方正黑体简体" panose="02010601030101010101" pitchFamily="2" charset="-122"/>
                <a:cs typeface="+mn-ea"/>
              </a:rPr>
              <a:t>工作</a:t>
            </a:r>
            <a:r>
              <a:rPr lang="en-US" altLang="zh-CN" sz="1600" b="1" dirty="0">
                <a:solidFill>
                  <a:srgbClr val="686769"/>
                </a:solidFill>
                <a:ea typeface="方正黑体简体" panose="02010601030101010101" pitchFamily="2" charset="-122"/>
                <a:cs typeface="+mn-ea"/>
              </a:rPr>
              <a:t> </a:t>
            </a:r>
            <a:r>
              <a:rPr lang="en-US" altLang="zh-CN" sz="1600" b="1" dirty="0">
                <a:solidFill>
                  <a:srgbClr val="686769"/>
                </a:solidFill>
                <a:ea typeface="方正黑体简体" panose="02010601030101010101" pitchFamily="2" charset="-122"/>
                <a:cs typeface="+mn-ea"/>
                <a:sym typeface="Wingdings" panose="05000000000000000000" pitchFamily="2" charset="2"/>
              </a:rPr>
              <a:t> </a:t>
            </a:r>
            <a:r>
              <a:rPr lang="zh-CN" altLang="zh-CN" sz="1600" b="1" dirty="0">
                <a:solidFill>
                  <a:srgbClr val="686769"/>
                </a:solidFill>
                <a:ea typeface="方正黑体简体" panose="02010601030101010101" pitchFamily="2" charset="-122"/>
                <a:cs typeface="+mn-ea"/>
              </a:rPr>
              <a:t>日程任务</a:t>
            </a:r>
            <a:endParaRPr lang="zh-CN" altLang="en-US" sz="1600" b="1" dirty="0">
              <a:solidFill>
                <a:srgbClr val="686769"/>
              </a:solidFill>
              <a:ea typeface="方正黑体简体" panose="02010601030101010101" pitchFamily="2" charset="-122"/>
              <a:cs typeface="+mn-ea"/>
            </a:endParaRPr>
          </a:p>
        </p:txBody>
      </p:sp>
      <p:sp>
        <p:nvSpPr>
          <p:cNvPr id="2" name="矩形 1">
            <a:extLst>
              <a:ext uri="{FF2B5EF4-FFF2-40B4-BE49-F238E27FC236}">
                <a16:creationId xmlns:a16="http://schemas.microsoft.com/office/drawing/2014/main" id="{FCE540CE-8573-453B-9025-CF93B4806A80}"/>
              </a:ext>
            </a:extLst>
          </p:cNvPr>
          <p:cNvSpPr/>
          <p:nvPr/>
        </p:nvSpPr>
        <p:spPr>
          <a:xfrm>
            <a:off x="5952067" y="3649134"/>
            <a:ext cx="1244598" cy="753534"/>
          </a:xfrm>
          <a:prstGeom prst="rect">
            <a:avLst/>
          </a:prstGeom>
          <a:solidFill>
            <a:srgbClr val="1D4C77"/>
          </a:solidFill>
          <a:ln>
            <a:solidFill>
              <a:srgbClr val="1D4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ea typeface="方正黑体简体" panose="02010601030101010101"/>
              </a:rPr>
              <a:t>打印模块</a:t>
            </a:r>
          </a:p>
        </p:txBody>
      </p:sp>
      <p:sp>
        <p:nvSpPr>
          <p:cNvPr id="17" name="矩形 16">
            <a:extLst>
              <a:ext uri="{FF2B5EF4-FFF2-40B4-BE49-F238E27FC236}">
                <a16:creationId xmlns:a16="http://schemas.microsoft.com/office/drawing/2014/main" id="{5818BA1E-774E-4CFC-AB45-AFF453B3AD4E}"/>
              </a:ext>
            </a:extLst>
          </p:cNvPr>
          <p:cNvSpPr/>
          <p:nvPr/>
        </p:nvSpPr>
        <p:spPr>
          <a:xfrm>
            <a:off x="7648800" y="3649134"/>
            <a:ext cx="1244598" cy="753534"/>
          </a:xfrm>
          <a:prstGeom prst="rect">
            <a:avLst/>
          </a:prstGeom>
          <a:solidFill>
            <a:srgbClr val="1D4C77"/>
          </a:solidFill>
          <a:ln>
            <a:solidFill>
              <a:srgbClr val="1D4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ea typeface="方正黑体简体" panose="02010601030101010101"/>
              </a:rPr>
              <a:t>扫描模块</a:t>
            </a:r>
          </a:p>
        </p:txBody>
      </p:sp>
      <p:sp>
        <p:nvSpPr>
          <p:cNvPr id="19" name="矩形 18">
            <a:extLst>
              <a:ext uri="{FF2B5EF4-FFF2-40B4-BE49-F238E27FC236}">
                <a16:creationId xmlns:a16="http://schemas.microsoft.com/office/drawing/2014/main" id="{278959A3-BF31-43DB-88A4-6BA06CD30E67}"/>
              </a:ext>
            </a:extLst>
          </p:cNvPr>
          <p:cNvSpPr/>
          <p:nvPr/>
        </p:nvSpPr>
        <p:spPr>
          <a:xfrm>
            <a:off x="9372634" y="3649134"/>
            <a:ext cx="1244598" cy="753534"/>
          </a:xfrm>
          <a:prstGeom prst="rect">
            <a:avLst/>
          </a:prstGeom>
          <a:solidFill>
            <a:srgbClr val="1D4C77"/>
          </a:solidFill>
          <a:ln>
            <a:solidFill>
              <a:srgbClr val="1D4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ea typeface="方正黑体简体" panose="02010601030101010101"/>
              </a:rPr>
              <a:t>喷墨模块</a:t>
            </a:r>
          </a:p>
        </p:txBody>
      </p:sp>
    </p:spTree>
    <p:extLst>
      <p:ext uri="{BB962C8B-B14F-4D97-AF65-F5344CB8AC3E}">
        <p14:creationId xmlns:p14="http://schemas.microsoft.com/office/powerpoint/2010/main" val="6439961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02</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5123518"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项目人力管理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项目分解</a:t>
            </a:r>
            <a:r>
              <a:rPr lang="en-US" altLang="zh-CN" sz="2800" b="1" dirty="0">
                <a:solidFill>
                  <a:srgbClr val="414141"/>
                </a:solidFill>
                <a:ea typeface="方正黑体简体" panose="02010601030101010101" pitchFamily="2" charset="-122"/>
              </a:rPr>
              <a:t>WBS</a:t>
            </a:r>
            <a:r>
              <a:rPr lang="zh-CN" altLang="en-US" sz="2800" b="1" dirty="0">
                <a:solidFill>
                  <a:srgbClr val="414141"/>
                </a:solidFill>
                <a:ea typeface="方正黑体简体" panose="02010601030101010101" pitchFamily="2" charset="-122"/>
              </a:rPr>
              <a:t>图</a:t>
            </a:r>
          </a:p>
        </p:txBody>
      </p:sp>
      <p:pic>
        <p:nvPicPr>
          <p:cNvPr id="18" name="图形 17">
            <a:extLst>
              <a:ext uri="{FF2B5EF4-FFF2-40B4-BE49-F238E27FC236}">
                <a16:creationId xmlns:a16="http://schemas.microsoft.com/office/drawing/2014/main" id="{E52ABBE8-C149-4DD3-BEA9-3601D12DAEF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5548" y="956200"/>
            <a:ext cx="8238067" cy="5744804"/>
          </a:xfrm>
          <a:prstGeom prst="rect">
            <a:avLst/>
          </a:prstGeom>
        </p:spPr>
      </p:pic>
    </p:spTree>
    <p:extLst>
      <p:ext uri="{BB962C8B-B14F-4D97-AF65-F5344CB8AC3E}">
        <p14:creationId xmlns:p14="http://schemas.microsoft.com/office/powerpoint/2010/main" val="404998973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03</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4467890"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项目沟通管理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存在的问题</a:t>
            </a:r>
          </a:p>
        </p:txBody>
      </p:sp>
      <p:sp>
        <p:nvSpPr>
          <p:cNvPr id="43" name="文本框 42">
            <a:extLst>
              <a:ext uri="{FF2B5EF4-FFF2-40B4-BE49-F238E27FC236}">
                <a16:creationId xmlns:a16="http://schemas.microsoft.com/office/drawing/2014/main" id="{41994A88-30DB-4095-93E2-0440B6500632}"/>
              </a:ext>
            </a:extLst>
          </p:cNvPr>
          <p:cNvSpPr txBox="1"/>
          <p:nvPr/>
        </p:nvSpPr>
        <p:spPr>
          <a:xfrm>
            <a:off x="6888353" y="3127718"/>
            <a:ext cx="5303646" cy="2133918"/>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zh-CN" altLang="en-US" sz="2400"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4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沟通频率较少 </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从项目经理层面</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团队缺乏沟通意识 </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从员工层面</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沟通渠道不够健全 </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从企业层面</a:t>
            </a:r>
          </a:p>
        </p:txBody>
      </p:sp>
      <p:pic>
        <p:nvPicPr>
          <p:cNvPr id="5" name="图片 4">
            <a:extLst>
              <a:ext uri="{FF2B5EF4-FFF2-40B4-BE49-F238E27FC236}">
                <a16:creationId xmlns:a16="http://schemas.microsoft.com/office/drawing/2014/main" id="{8F575F7A-99DC-4366-B228-37977AF3EB7E}"/>
              </a:ext>
            </a:extLst>
          </p:cNvPr>
          <p:cNvPicPr>
            <a:picLocks noChangeAspect="1"/>
          </p:cNvPicPr>
          <p:nvPr/>
        </p:nvPicPr>
        <p:blipFill>
          <a:blip r:embed="rId4"/>
          <a:stretch>
            <a:fillRect/>
          </a:stretch>
        </p:blipFill>
        <p:spPr>
          <a:xfrm>
            <a:off x="955635" y="2315587"/>
            <a:ext cx="4037548" cy="4109433"/>
          </a:xfrm>
          <a:prstGeom prst="rect">
            <a:avLst/>
          </a:prstGeom>
        </p:spPr>
      </p:pic>
    </p:spTree>
    <p:extLst>
      <p:ext uri="{BB962C8B-B14F-4D97-AF65-F5344CB8AC3E}">
        <p14:creationId xmlns:p14="http://schemas.microsoft.com/office/powerpoint/2010/main" val="216289763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14:presetBounceEnd="40000">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14:bounceEnd="40000">
                                          <p:cBhvr additive="base">
                                            <p:cTn id="7" dur="750" fill="hold"/>
                                            <p:tgtEl>
                                              <p:spTgt spid="39"/>
                                            </p:tgtEl>
                                            <p:attrNameLst>
                                              <p:attrName>ppt_x</p:attrName>
                                            </p:attrNameLst>
                                          </p:cBhvr>
                                          <p:tavLst>
                                            <p:tav tm="0">
                                              <p:val>
                                                <p:strVal val="1+#ppt_w/2"/>
                                              </p:val>
                                            </p:tav>
                                            <p:tav tm="100000">
                                              <p:val>
                                                <p:strVal val="#ppt_x"/>
                                              </p:val>
                                            </p:tav>
                                          </p:tavLst>
                                        </p:anim>
                                        <p:anim calcmode="lin" valueType="num" p14:bounceEnd="40000">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750" fill="hold"/>
                                            <p:tgtEl>
                                              <p:spTgt spid="39"/>
                                            </p:tgtEl>
                                            <p:attrNameLst>
                                              <p:attrName>ppt_x</p:attrName>
                                            </p:attrNameLst>
                                          </p:cBhvr>
                                          <p:tavLst>
                                            <p:tav tm="0">
                                              <p:val>
                                                <p:strVal val="1+#ppt_w/2"/>
                                              </p:val>
                                            </p:tav>
                                            <p:tav tm="100000">
                                              <p:val>
                                                <p:strVal val="#ppt_x"/>
                                              </p:val>
                                            </p:tav>
                                          </p:tavLst>
                                        </p:anim>
                                        <p:anim calcmode="lin" valueType="num">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93963" y="2704931"/>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03</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6263253"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项目沟通管理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使用的理论和解决对策</a:t>
            </a:r>
          </a:p>
        </p:txBody>
      </p:sp>
      <p:sp>
        <p:nvSpPr>
          <p:cNvPr id="43" name="TextBox 7">
            <a:extLst>
              <a:ext uri="{FF2B5EF4-FFF2-40B4-BE49-F238E27FC236}">
                <a16:creationId xmlns:a16="http://schemas.microsoft.com/office/drawing/2014/main" id="{6E050055-64AF-4464-92FF-6371897E9C68}"/>
              </a:ext>
            </a:extLst>
          </p:cNvPr>
          <p:cNvSpPr txBox="1"/>
          <p:nvPr/>
        </p:nvSpPr>
        <p:spPr>
          <a:xfrm>
            <a:off x="326121" y="2365881"/>
            <a:ext cx="3124921" cy="597921"/>
          </a:xfrm>
          <a:prstGeom prst="rect">
            <a:avLst/>
          </a:prstGeom>
          <a:noFill/>
        </p:spPr>
        <p:txBody>
          <a:bodyPr wrap="square" rtlCol="0">
            <a:spAutoFit/>
          </a:bodyPr>
          <a:lstStyle/>
          <a:p>
            <a:pPr>
              <a:lnSpc>
                <a:spcPct val="130000"/>
              </a:lnSpc>
            </a:pPr>
            <a:r>
              <a:rPr lang="zh-CN" altLang="en-US" sz="2800" dirty="0">
                <a:solidFill>
                  <a:srgbClr val="4F4D50"/>
                </a:solidFill>
                <a:latin typeface="方正黑体简体" panose="02010601030101010101" pitchFamily="2" charset="-122"/>
                <a:ea typeface="方正黑体简体" panose="02010601030101010101" pitchFamily="2" charset="-122"/>
                <a:cs typeface="+mn-ea"/>
                <a:sym typeface="+mn-lt"/>
              </a:rPr>
              <a:t>关键链技术理论</a:t>
            </a:r>
            <a:endParaRPr lang="en-US" altLang="zh-CN" sz="2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5" name="矩形 4">
            <a:extLst>
              <a:ext uri="{FF2B5EF4-FFF2-40B4-BE49-F238E27FC236}">
                <a16:creationId xmlns:a16="http://schemas.microsoft.com/office/drawing/2014/main" id="{2B9B0C1A-57FC-4DC5-9F1D-C25ADB838662}"/>
              </a:ext>
            </a:extLst>
          </p:cNvPr>
          <p:cNvSpPr/>
          <p:nvPr/>
        </p:nvSpPr>
        <p:spPr>
          <a:xfrm>
            <a:off x="584492" y="4197463"/>
            <a:ext cx="1476686" cy="338554"/>
          </a:xfrm>
          <a:prstGeom prst="rect">
            <a:avLst/>
          </a:prstGeom>
        </p:spPr>
        <p:txBody>
          <a:bodyPr wrap="none">
            <a:spAutoFit/>
          </a:bodyPr>
          <a:lstStyle/>
          <a:p>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组织内部沟通 </a:t>
            </a:r>
            <a:endParaRPr lang="zh-CN" altLang="en-US" sz="1600" dirty="0"/>
          </a:p>
        </p:txBody>
      </p:sp>
      <p:sp>
        <p:nvSpPr>
          <p:cNvPr id="12" name="矩形 11">
            <a:extLst>
              <a:ext uri="{FF2B5EF4-FFF2-40B4-BE49-F238E27FC236}">
                <a16:creationId xmlns:a16="http://schemas.microsoft.com/office/drawing/2014/main" id="{68D1AAD1-C270-4AC5-B1ED-5E1AB7F1A2BB}"/>
              </a:ext>
            </a:extLst>
          </p:cNvPr>
          <p:cNvSpPr/>
          <p:nvPr/>
        </p:nvSpPr>
        <p:spPr>
          <a:xfrm>
            <a:off x="2218015" y="3547437"/>
            <a:ext cx="3564309" cy="769441"/>
          </a:xfrm>
          <a:prstGeom prst="rect">
            <a:avLst/>
          </a:prstGeom>
        </p:spPr>
        <p:txBody>
          <a:bodyPr wrap="square">
            <a:spAutoFit/>
          </a:bodyPr>
          <a:lstStyle/>
          <a:p>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下行沟通（自上而下，将上级拟定的</a:t>
            </a:r>
            <a:endPar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endParaRPr>
          </a:p>
          <a:p>
            <a:r>
              <a:rPr lang="en-US" altLang="zh-CN" sz="16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决策信息传达到各下属）</a:t>
            </a:r>
          </a:p>
          <a:p>
            <a:endParaRPr lang="zh-CN" altLang="en-US" sz="1200" dirty="0"/>
          </a:p>
        </p:txBody>
      </p:sp>
      <p:sp>
        <p:nvSpPr>
          <p:cNvPr id="13" name="左大括号 12">
            <a:extLst>
              <a:ext uri="{FF2B5EF4-FFF2-40B4-BE49-F238E27FC236}">
                <a16:creationId xmlns:a16="http://schemas.microsoft.com/office/drawing/2014/main" id="{B1D63EE5-5755-4B1C-9978-790C55AB5AB9}"/>
              </a:ext>
            </a:extLst>
          </p:cNvPr>
          <p:cNvSpPr/>
          <p:nvPr/>
        </p:nvSpPr>
        <p:spPr>
          <a:xfrm>
            <a:off x="2054867" y="3713034"/>
            <a:ext cx="97039" cy="1377635"/>
          </a:xfrm>
          <a:prstGeom prst="leftBrace">
            <a:avLst/>
          </a:prstGeom>
          <a:ln w="19050">
            <a:solidFill>
              <a:srgbClr val="1D4C7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061D17E3-A968-4C33-B93E-C4C081A6CD6F}"/>
              </a:ext>
            </a:extLst>
          </p:cNvPr>
          <p:cNvSpPr/>
          <p:nvPr/>
        </p:nvSpPr>
        <p:spPr>
          <a:xfrm>
            <a:off x="2221392" y="4273107"/>
            <a:ext cx="2236510" cy="523220"/>
          </a:xfrm>
          <a:prstGeom prst="rect">
            <a:avLst/>
          </a:prstGeom>
        </p:spPr>
        <p:txBody>
          <a:bodyPr wrap="none">
            <a:spAutoFit/>
          </a:bodyPr>
          <a:lstStyle/>
          <a:p>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上行沟通（自下而上）</a:t>
            </a:r>
          </a:p>
          <a:p>
            <a:endParaRPr lang="zh-CN" altLang="en-US" sz="1200" dirty="0"/>
          </a:p>
        </p:txBody>
      </p:sp>
      <p:sp>
        <p:nvSpPr>
          <p:cNvPr id="45" name="矩形 44">
            <a:extLst>
              <a:ext uri="{FF2B5EF4-FFF2-40B4-BE49-F238E27FC236}">
                <a16:creationId xmlns:a16="http://schemas.microsoft.com/office/drawing/2014/main" id="{80D7C8B9-C61B-45F0-BD9E-F51ADF9679F7}"/>
              </a:ext>
            </a:extLst>
          </p:cNvPr>
          <p:cNvSpPr/>
          <p:nvPr/>
        </p:nvSpPr>
        <p:spPr>
          <a:xfrm>
            <a:off x="2218015" y="4922676"/>
            <a:ext cx="3877985" cy="523220"/>
          </a:xfrm>
          <a:prstGeom prst="rect">
            <a:avLst/>
          </a:prstGeom>
        </p:spPr>
        <p:txBody>
          <a:bodyPr wrap="none">
            <a:spAutoFit/>
          </a:bodyPr>
          <a:lstStyle/>
          <a:p>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平行沟通（个人与个人之间，非正式性）</a:t>
            </a:r>
          </a:p>
          <a:p>
            <a:endParaRPr lang="zh-CN" altLang="en-US" sz="1200" dirty="0"/>
          </a:p>
        </p:txBody>
      </p:sp>
      <p:sp>
        <p:nvSpPr>
          <p:cNvPr id="14" name="矩形 13">
            <a:extLst>
              <a:ext uri="{FF2B5EF4-FFF2-40B4-BE49-F238E27FC236}">
                <a16:creationId xmlns:a16="http://schemas.microsoft.com/office/drawing/2014/main" id="{193E5A3D-626B-4747-A0B4-82525C74FA08}"/>
              </a:ext>
            </a:extLst>
          </p:cNvPr>
          <p:cNvSpPr/>
          <p:nvPr/>
        </p:nvSpPr>
        <p:spPr>
          <a:xfrm>
            <a:off x="584492" y="5659636"/>
            <a:ext cx="3877985" cy="381258"/>
          </a:xfrm>
          <a:prstGeom prst="rect">
            <a:avLst/>
          </a:prstGeom>
        </p:spPr>
        <p:txBody>
          <a:bodyPr wrap="none">
            <a:spAutoFit/>
          </a:bodyPr>
          <a:lstStyle/>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组织外部沟通（组织和外部环境的沟通）</a:t>
            </a:r>
          </a:p>
        </p:txBody>
      </p:sp>
      <p:sp>
        <p:nvSpPr>
          <p:cNvPr id="17" name="左大括号 16">
            <a:extLst>
              <a:ext uri="{FF2B5EF4-FFF2-40B4-BE49-F238E27FC236}">
                <a16:creationId xmlns:a16="http://schemas.microsoft.com/office/drawing/2014/main" id="{96C741EF-E6B3-4BD0-9E7C-B21F1C7E6767}"/>
              </a:ext>
            </a:extLst>
          </p:cNvPr>
          <p:cNvSpPr/>
          <p:nvPr/>
        </p:nvSpPr>
        <p:spPr>
          <a:xfrm>
            <a:off x="457638" y="4366740"/>
            <a:ext cx="142680" cy="1479130"/>
          </a:xfrm>
          <a:prstGeom prst="leftBrace">
            <a:avLst/>
          </a:prstGeom>
          <a:ln w="19050">
            <a:solidFill>
              <a:srgbClr val="1D4C7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BFAAF98E-02DC-4643-98DF-FFCD9193AF44}"/>
              </a:ext>
            </a:extLst>
          </p:cNvPr>
          <p:cNvSpPr/>
          <p:nvPr/>
        </p:nvSpPr>
        <p:spPr>
          <a:xfrm>
            <a:off x="320332" y="3152852"/>
            <a:ext cx="1620957" cy="381258"/>
          </a:xfrm>
          <a:prstGeom prst="rect">
            <a:avLst/>
          </a:prstGeom>
        </p:spPr>
        <p:txBody>
          <a:bodyPr wrap="none">
            <a:spAutoFit/>
          </a:bodyPr>
          <a:lstStyle/>
          <a:p>
            <a:pPr algn="just">
              <a:lnSpc>
                <a:spcPct val="130000"/>
              </a:lnSpc>
            </a:pPr>
            <a:r>
              <a:rPr lang="zh-CN" altLang="en-US" sz="1600" dirty="0">
                <a:solidFill>
                  <a:srgbClr val="686769"/>
                </a:solidFill>
                <a:latin typeface="方正黑体简体" panose="02010601030101010101" pitchFamily="2" charset="-122"/>
                <a:ea typeface="方正黑体简体" panose="02010601030101010101" pitchFamily="2" charset="-122"/>
                <a:cs typeface="+mn-ea"/>
                <a:sym typeface="+mn-lt"/>
              </a:rPr>
              <a:t>组织沟通分为：</a:t>
            </a:r>
          </a:p>
        </p:txBody>
      </p:sp>
      <p:sp>
        <p:nvSpPr>
          <p:cNvPr id="46" name="文本框 45">
            <a:extLst>
              <a:ext uri="{FF2B5EF4-FFF2-40B4-BE49-F238E27FC236}">
                <a16:creationId xmlns:a16="http://schemas.microsoft.com/office/drawing/2014/main" id="{B9BA7C09-1ED9-4EAF-B9FD-14B6BA277B02}"/>
              </a:ext>
            </a:extLst>
          </p:cNvPr>
          <p:cNvSpPr txBox="1"/>
          <p:nvPr/>
        </p:nvSpPr>
        <p:spPr>
          <a:xfrm>
            <a:off x="6241394" y="3139737"/>
            <a:ext cx="7589253" cy="2454005"/>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建立正式的内部沟通渠道，针对组织沟通的结构</a:t>
            </a:r>
          </a:p>
          <a:p>
            <a:pPr algn="just">
              <a:lnSpc>
                <a:spcPct val="130000"/>
              </a:lnSpc>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例会、通知</a:t>
            </a:r>
          </a:p>
          <a:p>
            <a:pPr algn="just">
              <a:lnSpc>
                <a:spcPct val="130000"/>
              </a:lnSpc>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例会、鼓励面对面或邮件沟通</a:t>
            </a:r>
          </a:p>
          <a:p>
            <a:pPr algn="just">
              <a:lnSpc>
                <a:spcPct val="130000"/>
              </a:lnSpc>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自由谈话</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培养员工积极沟通的意识</a:t>
            </a:r>
          </a:p>
        </p:txBody>
      </p:sp>
      <p:cxnSp>
        <p:nvCxnSpPr>
          <p:cNvPr id="6" name="直接箭头连接符 5">
            <a:extLst>
              <a:ext uri="{FF2B5EF4-FFF2-40B4-BE49-F238E27FC236}">
                <a16:creationId xmlns:a16="http://schemas.microsoft.com/office/drawing/2014/main" id="{7B30A09E-6895-40DC-9843-767F40BEDBB8}"/>
              </a:ext>
            </a:extLst>
          </p:cNvPr>
          <p:cNvCxnSpPr>
            <a:cxnSpLocks/>
            <a:stCxn id="12" idx="3"/>
          </p:cNvCxnSpPr>
          <p:nvPr/>
        </p:nvCxnSpPr>
        <p:spPr>
          <a:xfrm flipV="1">
            <a:off x="5782324" y="3793715"/>
            <a:ext cx="1268716" cy="138443"/>
          </a:xfrm>
          <a:prstGeom prst="straightConnector1">
            <a:avLst/>
          </a:prstGeom>
          <a:ln w="38100">
            <a:solidFill>
              <a:srgbClr val="1D4C77"/>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888E1207-EAAE-49E5-95A9-DB689E80253D}"/>
              </a:ext>
            </a:extLst>
          </p:cNvPr>
          <p:cNvCxnSpPr/>
          <p:nvPr/>
        </p:nvCxnSpPr>
        <p:spPr>
          <a:xfrm flipV="1">
            <a:off x="4700011" y="4197463"/>
            <a:ext cx="2351029" cy="337254"/>
          </a:xfrm>
          <a:prstGeom prst="straightConnector1">
            <a:avLst/>
          </a:prstGeom>
          <a:ln w="38100">
            <a:solidFill>
              <a:srgbClr val="1D4C77"/>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F39F99C-B811-41C6-9E68-71F2F258CFEC}"/>
              </a:ext>
            </a:extLst>
          </p:cNvPr>
          <p:cNvCxnSpPr/>
          <p:nvPr/>
        </p:nvCxnSpPr>
        <p:spPr>
          <a:xfrm flipV="1">
            <a:off x="5937860" y="4632960"/>
            <a:ext cx="1113180" cy="457709"/>
          </a:xfrm>
          <a:prstGeom prst="straightConnector1">
            <a:avLst/>
          </a:prstGeom>
          <a:ln w="38100">
            <a:solidFill>
              <a:srgbClr val="1D4C7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9375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04</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4467890"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项目范围管理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存在的问题</a:t>
            </a:r>
          </a:p>
        </p:txBody>
      </p:sp>
      <p:sp>
        <p:nvSpPr>
          <p:cNvPr id="44" name="文本框 43">
            <a:extLst>
              <a:ext uri="{FF2B5EF4-FFF2-40B4-BE49-F238E27FC236}">
                <a16:creationId xmlns:a16="http://schemas.microsoft.com/office/drawing/2014/main" id="{E3D12511-9F16-482C-8AE6-D0BAF726C608}"/>
              </a:ext>
            </a:extLst>
          </p:cNvPr>
          <p:cNvSpPr txBox="1"/>
          <p:nvPr/>
        </p:nvSpPr>
        <p:spPr>
          <a:xfrm>
            <a:off x="6546277" y="2538401"/>
            <a:ext cx="4896612" cy="2894126"/>
          </a:xfrm>
          <a:prstGeom prst="rect">
            <a:avLst/>
          </a:prstGeom>
          <a:noFill/>
        </p:spPr>
        <p:txBody>
          <a:bodyPr wrap="square" rtlCol="0">
            <a:spAutoFit/>
          </a:bodyPr>
          <a:lstStyle/>
          <a:p>
            <a:pPr algn="just">
              <a:lnSpc>
                <a:spcPct val="130000"/>
              </a:lnSpc>
            </a:pPr>
            <a:endParaRPr lang="zh-CN" altLang="en-US" sz="22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外包公司的资质存疑</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未对外包公司的开发过程进行质量监测</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公司未与外包公司制定完善的项目故障应对处理方案</a:t>
            </a:r>
          </a:p>
        </p:txBody>
      </p:sp>
      <p:pic>
        <p:nvPicPr>
          <p:cNvPr id="5" name="图片 4">
            <a:extLst>
              <a:ext uri="{FF2B5EF4-FFF2-40B4-BE49-F238E27FC236}">
                <a16:creationId xmlns:a16="http://schemas.microsoft.com/office/drawing/2014/main" id="{004904BB-C2DB-4B87-BBA5-6FB4DFC6BEBB}"/>
              </a:ext>
            </a:extLst>
          </p:cNvPr>
          <p:cNvPicPr>
            <a:picLocks noChangeAspect="1"/>
          </p:cNvPicPr>
          <p:nvPr/>
        </p:nvPicPr>
        <p:blipFill>
          <a:blip r:embed="rId4"/>
          <a:stretch>
            <a:fillRect/>
          </a:stretch>
        </p:blipFill>
        <p:spPr>
          <a:xfrm>
            <a:off x="858181" y="2338262"/>
            <a:ext cx="4161650" cy="3767511"/>
          </a:xfrm>
          <a:prstGeom prst="rect">
            <a:avLst/>
          </a:prstGeom>
        </p:spPr>
      </p:pic>
    </p:spTree>
    <p:extLst>
      <p:ext uri="{BB962C8B-B14F-4D97-AF65-F5344CB8AC3E}">
        <p14:creationId xmlns:p14="http://schemas.microsoft.com/office/powerpoint/2010/main" val="348665885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1D4C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8" name="椭圆 37"/>
          <p:cNvSpPr/>
          <p:nvPr/>
        </p:nvSpPr>
        <p:spPr>
          <a:xfrm>
            <a:off x="-1315330" y="-1315330"/>
            <a:ext cx="2630659" cy="2630659"/>
          </a:xfrm>
          <a:prstGeom prst="ellipse">
            <a:avLst/>
          </a:prstGeom>
          <a:solidFill>
            <a:schemeClr val="bg1"/>
          </a:solidFill>
          <a:ln w="254000">
            <a:solidFill>
              <a:srgbClr val="1D4C77"/>
            </a:solidFill>
          </a:ln>
          <a:effectLst>
            <a:outerShdw blurRad="381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1442895" y="5869744"/>
            <a:ext cx="1498209" cy="1498209"/>
          </a:xfrm>
          <a:prstGeom prst="ellipse">
            <a:avLst/>
          </a:prstGeom>
          <a:solidFill>
            <a:schemeClr val="bg1"/>
          </a:solidFill>
          <a:ln w="190500">
            <a:solidFill>
              <a:srgbClr val="1D4C77"/>
            </a:solidFill>
          </a:ln>
          <a:effectLst>
            <a:outerShdw blurRad="381000" dist="101600" dir="75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600" y="140555"/>
            <a:ext cx="935502" cy="769441"/>
          </a:xfrm>
          <a:prstGeom prst="rect">
            <a:avLst/>
          </a:prstGeom>
          <a:noFill/>
        </p:spPr>
        <p:txBody>
          <a:bodyPr wrap="square" rtlCol="0">
            <a:spAutoFit/>
            <a:scene3d>
              <a:camera prst="orthographicFront"/>
              <a:lightRig rig="threePt" dir="t"/>
            </a:scene3d>
            <a:sp3d contourW="12700"/>
          </a:bodyPr>
          <a:lstStyle/>
          <a:p>
            <a:pPr algn="ctr"/>
            <a:r>
              <a:rPr lang="en-US" altLang="zh-CN" sz="4400" b="1" spc="300" dirty="0">
                <a:solidFill>
                  <a:srgbClr val="1D4C77"/>
                </a:solidFill>
                <a:latin typeface="Agency FB" panose="020B0503020202020204" pitchFamily="34" charset="0"/>
                <a:ea typeface="方正黑体简体" panose="02010601030101010101" pitchFamily="2" charset="-122"/>
              </a:rPr>
              <a:t>04</a:t>
            </a:r>
            <a:endParaRPr lang="zh-CN" altLang="en-US" sz="4400" b="1" spc="300" dirty="0">
              <a:solidFill>
                <a:srgbClr val="1D4C77"/>
              </a:solidFill>
              <a:latin typeface="Agency FB" panose="020B0503020202020204" pitchFamily="34" charset="0"/>
              <a:ea typeface="方正黑体简体" panose="02010601030101010101" pitchFamily="2" charset="-122"/>
            </a:endParaRPr>
          </a:p>
        </p:txBody>
      </p:sp>
      <p:sp>
        <p:nvSpPr>
          <p:cNvPr id="42" name="文本框 41"/>
          <p:cNvSpPr txBox="1"/>
          <p:nvPr/>
        </p:nvSpPr>
        <p:spPr>
          <a:xfrm>
            <a:off x="1568385" y="432980"/>
            <a:ext cx="6263253"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rgbClr val="414141"/>
                </a:solidFill>
                <a:ea typeface="方正黑体简体" panose="02010601030101010101" pitchFamily="2" charset="-122"/>
              </a:rPr>
              <a:t>项目范围管理 </a:t>
            </a:r>
            <a:r>
              <a:rPr lang="en-US" altLang="zh-CN" sz="2800" b="1" dirty="0">
                <a:solidFill>
                  <a:srgbClr val="414141"/>
                </a:solidFill>
                <a:ea typeface="方正黑体简体" panose="02010601030101010101" pitchFamily="2" charset="-122"/>
              </a:rPr>
              <a:t>| </a:t>
            </a:r>
            <a:r>
              <a:rPr lang="zh-CN" altLang="en-US" sz="2800" b="1" dirty="0">
                <a:solidFill>
                  <a:srgbClr val="414141"/>
                </a:solidFill>
                <a:ea typeface="方正黑体简体" panose="02010601030101010101" pitchFamily="2" charset="-122"/>
              </a:rPr>
              <a:t>使用的理论和解决对策</a:t>
            </a:r>
          </a:p>
        </p:txBody>
      </p:sp>
      <p:sp>
        <p:nvSpPr>
          <p:cNvPr id="43" name="TextBox 7">
            <a:extLst>
              <a:ext uri="{FF2B5EF4-FFF2-40B4-BE49-F238E27FC236}">
                <a16:creationId xmlns:a16="http://schemas.microsoft.com/office/drawing/2014/main" id="{5DA3C323-FC47-463D-9CAE-262A3BD305DF}"/>
              </a:ext>
            </a:extLst>
          </p:cNvPr>
          <p:cNvSpPr txBox="1"/>
          <p:nvPr/>
        </p:nvSpPr>
        <p:spPr>
          <a:xfrm>
            <a:off x="744589" y="2046083"/>
            <a:ext cx="3124921" cy="597921"/>
          </a:xfrm>
          <a:prstGeom prst="rect">
            <a:avLst/>
          </a:prstGeom>
          <a:noFill/>
        </p:spPr>
        <p:txBody>
          <a:bodyPr wrap="square" rtlCol="0">
            <a:spAutoFit/>
          </a:bodyPr>
          <a:lstStyle/>
          <a:p>
            <a:pPr>
              <a:lnSpc>
                <a:spcPct val="130000"/>
              </a:lnSpc>
            </a:pPr>
            <a:r>
              <a:rPr lang="zh-CN" altLang="en-US" sz="2800" dirty="0">
                <a:solidFill>
                  <a:srgbClr val="4F4D50"/>
                </a:solidFill>
                <a:latin typeface="方正黑体简体" panose="02010601030101010101" pitchFamily="2" charset="-122"/>
                <a:ea typeface="方正黑体简体" panose="02010601030101010101" pitchFamily="2" charset="-122"/>
                <a:cs typeface="+mn-ea"/>
                <a:sym typeface="+mn-lt"/>
              </a:rPr>
              <a:t>分包管理理论</a:t>
            </a:r>
            <a:endParaRPr lang="en-US" altLang="zh-CN" sz="28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44" name="文本框 43">
            <a:extLst>
              <a:ext uri="{FF2B5EF4-FFF2-40B4-BE49-F238E27FC236}">
                <a16:creationId xmlns:a16="http://schemas.microsoft.com/office/drawing/2014/main" id="{073A7524-90ED-4849-83D1-153ED67E1755}"/>
              </a:ext>
            </a:extLst>
          </p:cNvPr>
          <p:cNvSpPr txBox="1"/>
          <p:nvPr/>
        </p:nvSpPr>
        <p:spPr>
          <a:xfrm>
            <a:off x="693074" y="2896759"/>
            <a:ext cx="5258310" cy="3298147"/>
          </a:xfrm>
          <a:prstGeom prst="rect">
            <a:avLst/>
          </a:prstGeom>
          <a:noFill/>
        </p:spPr>
        <p:txBody>
          <a:bodyPr wrap="square" rtlCol="0">
            <a:spAutoFit/>
          </a:bodyPr>
          <a:lstStyle/>
          <a:p>
            <a:pPr algn="just">
              <a:lnSpc>
                <a:spcPct val="130000"/>
              </a:lnSpc>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最初来源于建筑工程学</a:t>
            </a:r>
            <a:endParaRPr lang="en-US" altLang="zh-CN"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zh-CN" altLang="en-US"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承包商将自己不擅长的工程部分分包给第三方</a:t>
            </a:r>
            <a:endParaRPr lang="en-US" altLang="zh-CN"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endParaRPr lang="zh-CN" altLang="en-US" dirty="0">
              <a:solidFill>
                <a:srgbClr val="686769"/>
              </a:solidFill>
              <a:latin typeface="方正黑体简体" panose="02010601030101010101" pitchFamily="2" charset="-122"/>
              <a:ea typeface="方正黑体简体" panose="02010601030101010101" pitchFamily="2" charset="-122"/>
              <a:cs typeface="+mn-ea"/>
              <a:sym typeface="+mn-lt"/>
            </a:endParaRPr>
          </a:p>
          <a:p>
            <a:pPr algn="just">
              <a:lnSpc>
                <a:spcPct val="130000"/>
              </a:lnSpc>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好处：</a:t>
            </a:r>
            <a:endParaRPr lang="en-US" altLang="zh-CN"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 降低承包商的开发压力、提高开发效率</a:t>
            </a:r>
          </a:p>
          <a:p>
            <a:pPr marL="171450" indent="-171450" algn="just">
              <a:lnSpc>
                <a:spcPct val="130000"/>
              </a:lnSpc>
              <a:buFont typeface="Wingdings" panose="05000000000000000000" pitchFamily="2" charset="2"/>
              <a:buChar char="Ø"/>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 扩大承包范围</a:t>
            </a:r>
            <a:endParaRPr lang="en-US" altLang="zh-CN"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 降低开发的经济风险</a:t>
            </a:r>
            <a:endParaRPr lang="en-US" altLang="zh-CN"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dirty="0">
                <a:solidFill>
                  <a:srgbClr val="686769"/>
                </a:solidFill>
                <a:latin typeface="方正黑体简体" panose="02010601030101010101" pitchFamily="2" charset="-122"/>
                <a:ea typeface="方正黑体简体" panose="02010601030101010101" pitchFamily="2" charset="-122"/>
                <a:cs typeface="+mn-ea"/>
                <a:sym typeface="+mn-lt"/>
              </a:rPr>
              <a:t> 强专业性的研发部份工作</a:t>
            </a:r>
          </a:p>
        </p:txBody>
      </p:sp>
      <p:sp>
        <p:nvSpPr>
          <p:cNvPr id="45" name="文本框 44">
            <a:extLst>
              <a:ext uri="{FF2B5EF4-FFF2-40B4-BE49-F238E27FC236}">
                <a16:creationId xmlns:a16="http://schemas.microsoft.com/office/drawing/2014/main" id="{611E9CCA-AE07-4FEB-A2A9-4C229EB23E6D}"/>
              </a:ext>
            </a:extLst>
          </p:cNvPr>
          <p:cNvSpPr txBox="1"/>
          <p:nvPr/>
        </p:nvSpPr>
        <p:spPr>
          <a:xfrm>
            <a:off x="6530348" y="3015629"/>
            <a:ext cx="5275572" cy="2454005"/>
          </a:xfrm>
          <a:prstGeom prst="rect">
            <a:avLst/>
          </a:prstGeom>
          <a:noFill/>
        </p:spPr>
        <p:txBody>
          <a:bodyPr wrap="square" rtlCol="0">
            <a:spAutoFit/>
          </a:bodyPr>
          <a:lstStyle/>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在有分包的项目内建立分包管理专门组织</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  </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用</a:t>
            </a:r>
            <a:r>
              <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rPr>
              <a:t>ISO</a:t>
            </a: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分包质量控制的工具建立合格分包商名选择机制</a:t>
            </a: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endParaRPr lang="en-US" altLang="zh-CN" sz="2000" dirty="0">
              <a:solidFill>
                <a:srgbClr val="686769"/>
              </a:solidFill>
              <a:latin typeface="方正黑体简体" panose="02010601030101010101" pitchFamily="2" charset="-122"/>
              <a:ea typeface="方正黑体简体" panose="02010601030101010101" pitchFamily="2" charset="-122"/>
              <a:cs typeface="+mn-ea"/>
              <a:sym typeface="+mn-lt"/>
            </a:endParaRPr>
          </a:p>
          <a:p>
            <a:pPr marL="171450" indent="-171450" algn="just">
              <a:lnSpc>
                <a:spcPct val="130000"/>
              </a:lnSpc>
              <a:buFont typeface="Wingdings" panose="05000000000000000000" pitchFamily="2" charset="2"/>
              <a:buChar char="Ø"/>
            </a:pPr>
            <a:r>
              <a:rPr lang="zh-CN" altLang="en-US" sz="2000" dirty="0">
                <a:solidFill>
                  <a:srgbClr val="686769"/>
                </a:solidFill>
                <a:latin typeface="方正黑体简体" panose="02010601030101010101" pitchFamily="2" charset="-122"/>
                <a:ea typeface="方正黑体简体" panose="02010601030101010101" pitchFamily="2" charset="-122"/>
                <a:cs typeface="+mn-ea"/>
                <a:sym typeface="+mn-lt"/>
              </a:rPr>
              <a:t>  外包阶段严控质检</a:t>
            </a:r>
          </a:p>
        </p:txBody>
      </p:sp>
    </p:spTree>
    <p:extLst>
      <p:ext uri="{BB962C8B-B14F-4D97-AF65-F5344CB8AC3E}">
        <p14:creationId xmlns:p14="http://schemas.microsoft.com/office/powerpoint/2010/main" val="181441102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14:presetBounceEnd="40000">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14:bounceEnd="40000">
                                          <p:cBhvr additive="base">
                                            <p:cTn id="7" dur="750" fill="hold"/>
                                            <p:tgtEl>
                                              <p:spTgt spid="39"/>
                                            </p:tgtEl>
                                            <p:attrNameLst>
                                              <p:attrName>ppt_x</p:attrName>
                                            </p:attrNameLst>
                                          </p:cBhvr>
                                          <p:tavLst>
                                            <p:tav tm="0">
                                              <p:val>
                                                <p:strVal val="1+#ppt_w/2"/>
                                              </p:val>
                                            </p:tav>
                                            <p:tav tm="100000">
                                              <p:val>
                                                <p:strVal val="#ppt_x"/>
                                              </p:val>
                                            </p:tav>
                                          </p:tavLst>
                                        </p:anim>
                                        <p:anim calcmode="lin" valueType="num" p14:bounceEnd="40000">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750" fill="hold"/>
                                            <p:tgtEl>
                                              <p:spTgt spid="39"/>
                                            </p:tgtEl>
                                            <p:attrNameLst>
                                              <p:attrName>ppt_x</p:attrName>
                                            </p:attrNameLst>
                                          </p:cBhvr>
                                          <p:tavLst>
                                            <p:tav tm="0">
                                              <p:val>
                                                <p:strVal val="1+#ppt_w/2"/>
                                              </p:val>
                                            </p:tav>
                                            <p:tav tm="100000">
                                              <p:val>
                                                <p:strVal val="#ppt_x"/>
                                              </p:val>
                                            </p:tav>
                                          </p:tavLst>
                                        </p:anim>
                                        <p:anim calcmode="lin" valueType="num">
                                          <p:cBhvr additive="base">
                                            <p:cTn id="8"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任意多边形 39"/>
          <p:cNvSpPr/>
          <p:nvPr/>
        </p:nvSpPr>
        <p:spPr>
          <a:xfrm>
            <a:off x="1100797" y="-341224"/>
            <a:ext cx="9959926" cy="7540448"/>
          </a:xfrm>
          <a:custGeom>
            <a:avLst/>
            <a:gdLst>
              <a:gd name="connsiteX0" fmla="*/ 1572046 w 9058502"/>
              <a:gd name="connsiteY0" fmla="*/ 0 h 6858000"/>
              <a:gd name="connsiteX1" fmla="*/ 7486457 w 9058502"/>
              <a:gd name="connsiteY1" fmla="*/ 0 h 6858000"/>
              <a:gd name="connsiteX2" fmla="*/ 7574617 w 9058502"/>
              <a:gd name="connsiteY2" fmla="*/ 76367 h 6858000"/>
              <a:gd name="connsiteX3" fmla="*/ 9058502 w 9058502"/>
              <a:gd name="connsiteY3" fmla="*/ 3429000 h 6858000"/>
              <a:gd name="connsiteX4" fmla="*/ 7574617 w 9058502"/>
              <a:gd name="connsiteY4" fmla="*/ 6781634 h 6858000"/>
              <a:gd name="connsiteX5" fmla="*/ 7486457 w 9058502"/>
              <a:gd name="connsiteY5" fmla="*/ 6858000 h 6858000"/>
              <a:gd name="connsiteX6" fmla="*/ 1572046 w 9058502"/>
              <a:gd name="connsiteY6" fmla="*/ 6858000 h 6858000"/>
              <a:gd name="connsiteX7" fmla="*/ 1483885 w 9058502"/>
              <a:gd name="connsiteY7" fmla="*/ 6781634 h 6858000"/>
              <a:gd name="connsiteX8" fmla="*/ 0 w 9058502"/>
              <a:gd name="connsiteY8" fmla="*/ 3429000 h 6858000"/>
              <a:gd name="connsiteX9" fmla="*/ 1483885 w 9058502"/>
              <a:gd name="connsiteY9" fmla="*/ 763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58502" h="6858000">
                <a:moveTo>
                  <a:pt x="1572046" y="0"/>
                </a:moveTo>
                <a:lnTo>
                  <a:pt x="7486457" y="0"/>
                </a:lnTo>
                <a:lnTo>
                  <a:pt x="7574617" y="76367"/>
                </a:lnTo>
                <a:cubicBezTo>
                  <a:pt x="8486199" y="904893"/>
                  <a:pt x="9058502" y="2100112"/>
                  <a:pt x="9058502" y="3429000"/>
                </a:cubicBezTo>
                <a:cubicBezTo>
                  <a:pt x="9058502" y="4757888"/>
                  <a:pt x="8486199" y="5953108"/>
                  <a:pt x="7574617" y="6781634"/>
                </a:cubicBezTo>
                <a:lnTo>
                  <a:pt x="7486457" y="6858000"/>
                </a:lnTo>
                <a:lnTo>
                  <a:pt x="1572046" y="6858000"/>
                </a:lnTo>
                <a:lnTo>
                  <a:pt x="1483885" y="6781634"/>
                </a:lnTo>
                <a:cubicBezTo>
                  <a:pt x="572304" y="5953108"/>
                  <a:pt x="0" y="4757888"/>
                  <a:pt x="0" y="3429000"/>
                </a:cubicBezTo>
                <a:cubicBezTo>
                  <a:pt x="0" y="2100112"/>
                  <a:pt x="572304" y="904893"/>
                  <a:pt x="1483885" y="76367"/>
                </a:cubicBezTo>
                <a:close/>
              </a:path>
            </a:pathLst>
          </a:custGeom>
          <a:solidFill>
            <a:srgbClr val="1D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黑体简体" panose="02010601030101010101" pitchFamily="2" charset="-122"/>
            </a:endParaRPr>
          </a:p>
        </p:txBody>
      </p:sp>
      <p:sp>
        <p:nvSpPr>
          <p:cNvPr id="25" name="任意多边形 24"/>
          <p:cNvSpPr/>
          <p:nvPr/>
        </p:nvSpPr>
        <p:spPr>
          <a:xfrm rot="16200000">
            <a:off x="2651761" y="-1100252"/>
            <a:ext cx="6857999" cy="9058502"/>
          </a:xfrm>
          <a:custGeom>
            <a:avLst/>
            <a:gdLst>
              <a:gd name="connsiteX0" fmla="*/ 6857999 w 6857999"/>
              <a:gd name="connsiteY0" fmla="*/ 1572046 h 9058502"/>
              <a:gd name="connsiteX1" fmla="*/ 6857999 w 6857999"/>
              <a:gd name="connsiteY1" fmla="*/ 7486457 h 9058502"/>
              <a:gd name="connsiteX2" fmla="*/ 6781632 w 6857999"/>
              <a:gd name="connsiteY2" fmla="*/ 7574617 h 9058502"/>
              <a:gd name="connsiteX3" fmla="*/ 3428999 w 6857999"/>
              <a:gd name="connsiteY3" fmla="*/ 9058502 h 9058502"/>
              <a:gd name="connsiteX4" fmla="*/ 76365 w 6857999"/>
              <a:gd name="connsiteY4" fmla="*/ 7574617 h 9058502"/>
              <a:gd name="connsiteX5" fmla="*/ 0 w 6857999"/>
              <a:gd name="connsiteY5" fmla="*/ 7486458 h 9058502"/>
              <a:gd name="connsiteX6" fmla="*/ 0 w 6857999"/>
              <a:gd name="connsiteY6" fmla="*/ 1572045 h 9058502"/>
              <a:gd name="connsiteX7" fmla="*/ 76365 w 6857999"/>
              <a:gd name="connsiteY7" fmla="*/ 1483885 h 9058502"/>
              <a:gd name="connsiteX8" fmla="*/ 3428999 w 6857999"/>
              <a:gd name="connsiteY8" fmla="*/ 0 h 9058502"/>
              <a:gd name="connsiteX9" fmla="*/ 6781632 w 6857999"/>
              <a:gd name="connsiteY9" fmla="*/ 1483885 h 905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9058502">
                <a:moveTo>
                  <a:pt x="6857999" y="1572046"/>
                </a:moveTo>
                <a:lnTo>
                  <a:pt x="6857999" y="7486457"/>
                </a:lnTo>
                <a:lnTo>
                  <a:pt x="6781632" y="7574617"/>
                </a:lnTo>
                <a:cubicBezTo>
                  <a:pt x="5953106" y="8486199"/>
                  <a:pt x="4757887" y="9058502"/>
                  <a:pt x="3428999" y="9058502"/>
                </a:cubicBezTo>
                <a:cubicBezTo>
                  <a:pt x="2100111" y="9058502"/>
                  <a:pt x="904891" y="8486199"/>
                  <a:pt x="76365" y="7574617"/>
                </a:cubicBezTo>
                <a:lnTo>
                  <a:pt x="0" y="7486458"/>
                </a:lnTo>
                <a:lnTo>
                  <a:pt x="0" y="1572045"/>
                </a:lnTo>
                <a:lnTo>
                  <a:pt x="76365" y="1483885"/>
                </a:lnTo>
                <a:cubicBezTo>
                  <a:pt x="904891" y="572304"/>
                  <a:pt x="2100111" y="0"/>
                  <a:pt x="3428999" y="0"/>
                </a:cubicBezTo>
                <a:cubicBezTo>
                  <a:pt x="4757887" y="0"/>
                  <a:pt x="5953106" y="572304"/>
                  <a:pt x="6781632" y="1483885"/>
                </a:cubicBezTo>
                <a:close/>
              </a:path>
            </a:pathLst>
          </a:custGeom>
          <a:blipFill dpi="0" rotWithShape="1">
            <a:blip r:embed="rId3"/>
            <a:srcRect/>
            <a:stretch>
              <a:fillRect/>
            </a:stretch>
          </a:blipFill>
          <a:ln>
            <a:noFill/>
          </a:ln>
          <a:effectLst>
            <a:outerShdw blurRad="698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方正黑体简体" panose="02010601030101010101" pitchFamily="2" charset="-122"/>
            </a:endParaRPr>
          </a:p>
        </p:txBody>
      </p:sp>
      <p:sp>
        <p:nvSpPr>
          <p:cNvPr id="3" name="椭圆 2"/>
          <p:cNvSpPr/>
          <p:nvPr/>
        </p:nvSpPr>
        <p:spPr>
          <a:xfrm>
            <a:off x="2138250" y="-487529"/>
            <a:ext cx="7885021" cy="7885021"/>
          </a:xfrm>
          <a:prstGeom prst="ellipse">
            <a:avLst/>
          </a:prstGeom>
          <a:solidFill>
            <a:schemeClr val="bg1"/>
          </a:solidFill>
          <a:ln>
            <a:noFill/>
          </a:ln>
          <a:effectLst>
            <a:glow rad="228600">
              <a:schemeClr val="tx1">
                <a:lumMod val="50000"/>
                <a:lumOff val="50000"/>
                <a:alpha val="14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3397406" y="3167375"/>
            <a:ext cx="5406626" cy="1015663"/>
          </a:xfrm>
          <a:prstGeom prst="rect">
            <a:avLst/>
          </a:prstGeom>
          <a:noFill/>
        </p:spPr>
        <p:txBody>
          <a:bodyPr wrap="square" rtlCol="0">
            <a:spAutoFit/>
            <a:scene3d>
              <a:camera prst="orthographicFront"/>
              <a:lightRig rig="threePt" dir="t"/>
            </a:scene3d>
            <a:sp3d contourW="12700"/>
          </a:bodyPr>
          <a:lstStyle/>
          <a:p>
            <a:pPr algn="dist"/>
            <a:r>
              <a:rPr lang="zh-CN" altLang="en-US" sz="6000" b="1" dirty="0">
                <a:solidFill>
                  <a:srgbClr val="414141"/>
                </a:solidFill>
                <a:ea typeface="方正黑体简体" panose="02010601030101010101" pitchFamily="2" charset="-122"/>
              </a:rPr>
              <a:t>感谢您的聆听</a:t>
            </a:r>
          </a:p>
        </p:txBody>
      </p:sp>
    </p:spTree>
    <p:extLst>
      <p:ext uri="{BB962C8B-B14F-4D97-AF65-F5344CB8AC3E}">
        <p14:creationId xmlns:p14="http://schemas.microsoft.com/office/powerpoint/2010/main" val="391788277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TotalTime>
  <Words>934</Words>
  <Application>Microsoft Office PowerPoint</Application>
  <PresentationFormat>宽屏</PresentationFormat>
  <Paragraphs>144</Paragraphs>
  <Slides>15</Slides>
  <Notes>15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Adobe 宋体 Std L</vt:lpstr>
      <vt:lpstr>Gill Sans</vt:lpstr>
      <vt:lpstr>Roboto Medium</vt:lpstr>
      <vt:lpstr>Roboto Thin</vt:lpstr>
      <vt:lpstr>方正黑体简体</vt:lpstr>
      <vt:lpstr>微软雅黑</vt:lpstr>
      <vt:lpstr>Agency FB</vt:lpstr>
      <vt:lpstr>Arial</vt:lpstr>
      <vt:lpstr>Calibri</vt:lpstr>
      <vt:lpstr>Calibri Light</vt:lpstr>
      <vt:lpstr>Century Gothic</vt:lpstr>
      <vt:lpstr>Source Sans Pro</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蓝色商务</dc:title>
  <dc:creator>第一PPT</dc:creator>
  <cp:keywords>www.1ppt.com</cp:keywords>
  <dc:description>www.1ppt.com</dc:description>
  <cp:lastModifiedBy>xuyan xu</cp:lastModifiedBy>
  <cp:revision>140</cp:revision>
  <dcterms:created xsi:type="dcterms:W3CDTF">2019-05-16T00:04:14Z</dcterms:created>
  <dcterms:modified xsi:type="dcterms:W3CDTF">2020-05-26T01:07:41Z</dcterms:modified>
</cp:coreProperties>
</file>